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6" r:id="rId3"/>
    <p:sldId id="278" r:id="rId4"/>
    <p:sldId id="279" r:id="rId5"/>
    <p:sldId id="267" r:id="rId6"/>
    <p:sldId id="268" r:id="rId7"/>
    <p:sldId id="269" r:id="rId8"/>
    <p:sldId id="270" r:id="rId9"/>
    <p:sldId id="273" r:id="rId10"/>
    <p:sldId id="280" r:id="rId11"/>
    <p:sldId id="281" r:id="rId12"/>
    <p:sldId id="282" r:id="rId13"/>
    <p:sldId id="277" r:id="rId14"/>
  </p:sldIdLst>
  <p:sldSz cx="32004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141"/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67" autoAdjust="0"/>
    <p:restoredTop sz="94280" autoAdjust="0"/>
  </p:normalViewPr>
  <p:slideViewPr>
    <p:cSldViewPr snapToGrid="0">
      <p:cViewPr varScale="1">
        <p:scale>
          <a:sx n="284" d="100"/>
          <a:sy n="284" d="100"/>
        </p:scale>
        <p:origin x="1133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8DC8F-CB6F-4533-A8E2-F07682B5833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2AB5F-591D-4B56-9091-1F8F97E4511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299297"/>
            <a:ext cx="2400300" cy="636693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960543"/>
            <a:ext cx="2400300" cy="441537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0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455930"/>
            <a:ext cx="2760345" cy="760730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223857"/>
            <a:ext cx="2760345" cy="400050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0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486833"/>
            <a:ext cx="1360170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486833"/>
            <a:ext cx="1360170" cy="11603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97367"/>
            <a:ext cx="2760345" cy="3534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448310"/>
            <a:ext cx="1353919" cy="219710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0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668020"/>
            <a:ext cx="1353919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2" y="448310"/>
            <a:ext cx="1360587" cy="219710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0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2" y="668020"/>
            <a:ext cx="1360587" cy="9825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1920"/>
            <a:ext cx="1032212" cy="426720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263314"/>
            <a:ext cx="1620203" cy="1299633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8640"/>
            <a:ext cx="1032212" cy="1016423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70"/>
            </a:lvl2pPr>
            <a:lvl3pPr marL="240030" indent="0">
              <a:buNone/>
              <a:defRPr sz="315"/>
            </a:lvl3pPr>
            <a:lvl4pPr marL="360045" indent="0">
              <a:buNone/>
              <a:defRPr sz="265"/>
            </a:lvl4pPr>
            <a:lvl5pPr marL="480060" indent="0">
              <a:buNone/>
              <a:defRPr sz="265"/>
            </a:lvl5pPr>
            <a:lvl6pPr marL="600075" indent="0">
              <a:buNone/>
              <a:defRPr sz="265"/>
            </a:lvl6pPr>
            <a:lvl7pPr marL="720090" indent="0">
              <a:buNone/>
              <a:defRPr sz="265"/>
            </a:lvl7pPr>
            <a:lvl8pPr marL="840105" indent="0">
              <a:buNone/>
              <a:defRPr sz="265"/>
            </a:lvl8pPr>
            <a:lvl9pPr marL="960120" indent="0">
              <a:buNone/>
              <a:defRPr sz="26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21920"/>
            <a:ext cx="1032212" cy="426720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263314"/>
            <a:ext cx="1620203" cy="1299633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548640"/>
            <a:ext cx="1032212" cy="1016423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70"/>
            </a:lvl2pPr>
            <a:lvl3pPr marL="240030" indent="0">
              <a:buNone/>
              <a:defRPr sz="315"/>
            </a:lvl3pPr>
            <a:lvl4pPr marL="360045" indent="0">
              <a:buNone/>
              <a:defRPr sz="265"/>
            </a:lvl4pPr>
            <a:lvl5pPr marL="480060" indent="0">
              <a:buNone/>
              <a:defRPr sz="265"/>
            </a:lvl5pPr>
            <a:lvl6pPr marL="600075" indent="0">
              <a:buNone/>
              <a:defRPr sz="265"/>
            </a:lvl6pPr>
            <a:lvl7pPr marL="720090" indent="0">
              <a:buNone/>
              <a:defRPr sz="265"/>
            </a:lvl7pPr>
            <a:lvl8pPr marL="840105" indent="0">
              <a:buNone/>
              <a:defRPr sz="265"/>
            </a:lvl8pPr>
            <a:lvl9pPr marL="960120" indent="0">
              <a:buNone/>
              <a:defRPr sz="265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6" y="97367"/>
            <a:ext cx="690086" cy="1549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7" y="97367"/>
            <a:ext cx="2030254" cy="154982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20298"/>
          <a:stretch>
            <a:fillRect/>
          </a:stretch>
        </p:blipFill>
        <p:spPr>
          <a:xfrm>
            <a:off x="919515" y="0"/>
            <a:ext cx="2280885" cy="1635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200400" cy="18288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97367"/>
            <a:ext cx="2760345" cy="353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486833"/>
            <a:ext cx="2760345" cy="116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1695027"/>
            <a:ext cx="72009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2881D-60FC-4736-B065-0A01D4CDA07A}" type="datetimeFigureOut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1695027"/>
            <a:ext cx="1080135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1695027"/>
            <a:ext cx="720090" cy="9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21548-E10E-45A6-B9E2-CA15064B7E56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325" indent="-60325" algn="l" defTabSz="240030" rtl="0" eaLnBrk="1" latinLnBrk="0" hangingPunct="1">
        <a:lnSpc>
          <a:spcPct val="90000"/>
        </a:lnSpc>
        <a:spcBef>
          <a:spcPts val="265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34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35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37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4pPr>
      <a:lvl5pPr marL="54038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5pPr>
      <a:lvl6pPr marL="66040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6pPr>
      <a:lvl7pPr marL="78041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7pPr>
      <a:lvl8pPr marL="900430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8pPr>
      <a:lvl9pPr marL="1020445" indent="-60325" algn="l" defTabSz="240030" rtl="0" eaLnBrk="1" latinLnBrk="0" hangingPunct="1">
        <a:lnSpc>
          <a:spcPct val="90000"/>
        </a:lnSpc>
        <a:spcBef>
          <a:spcPts val="130"/>
        </a:spcBef>
        <a:buFont typeface="Arial" panose="020B0604020202020204" pitchFamily="34" charset="0"/>
        <a:buChar char="•"/>
        <a:defRPr sz="4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13213" y="687983"/>
            <a:ext cx="115570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sz="500" spc="79" dirty="0">
                <a:solidFill>
                  <a:srgbClr val="363537"/>
                </a:solidFill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Internship By:</a:t>
            </a:r>
            <a:endParaRPr lang="en-US" sz="500" spc="79" dirty="0">
              <a:solidFill>
                <a:srgbClr val="363537"/>
              </a:solidFill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algn="dist"/>
            <a:r>
              <a:rPr lang="en-US" sz="500" b="1" spc="79" dirty="0">
                <a:solidFill>
                  <a:srgbClr val="363537"/>
                </a:solidFill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DataInn Technologies</a:t>
            </a:r>
            <a:endParaRPr lang="en-US" altLang="zh-CN" sz="500" b="1">
              <a:solidFill>
                <a:schemeClr val="tx2"/>
              </a:solidFill>
              <a:latin typeface="Copperplate Gothic Light" panose="020E0507020206020404" charset="0"/>
              <a:ea typeface="Calibri" panose="020F0502020204030204" charset="0"/>
              <a:cs typeface="Copperplate Gothic Light" panose="020E0507020206020404" charset="0"/>
              <a:sym typeface="+mn-lt"/>
            </a:endParaRPr>
          </a:p>
        </p:txBody>
      </p:sp>
      <p:pic>
        <p:nvPicPr>
          <p:cNvPr id="5" name="Picture 4" descr="datainn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287" y="382048"/>
            <a:ext cx="667417" cy="223361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13360" y="1015365"/>
            <a:ext cx="1513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00" b="1" dirty="0">
                <a:solidFill>
                  <a:srgbClr val="363537"/>
                </a:solidFill>
                <a:latin typeface="Copperplate Gothic Light" panose="020E0507020206020404" charset="0"/>
                <a:ea typeface="Roboto Bk" pitchFamily="2" charset="0"/>
                <a:cs typeface="Copperplate Gothic Light" panose="020E0507020206020404" charset="0"/>
                <a:sym typeface="+mn-ea"/>
              </a:rPr>
              <a:t>Name:</a:t>
            </a:r>
            <a:r>
              <a:rPr lang="en-US" sz="500" dirty="0">
                <a:solidFill>
                  <a:srgbClr val="363537"/>
                </a:solidFill>
                <a:latin typeface="Copperplate Gothic Light" panose="020E0507020206020404" charset="0"/>
                <a:ea typeface="Roboto Bk" pitchFamily="2" charset="0"/>
                <a:cs typeface="Copperplate Gothic Light" panose="020E0507020206020404" charset="0"/>
                <a:sym typeface="+mn-ea"/>
              </a:rPr>
              <a:t>  </a:t>
            </a:r>
            <a:r>
              <a:rPr lang="en-US" sz="500" dirty="0">
                <a:solidFill>
                  <a:srgbClr val="363537"/>
                </a:solidFill>
                <a:latin typeface="Copperplate Gothic Light" panose="020E0507020206020404" charset="0"/>
                <a:ea typeface="Roboto Bk" pitchFamily="2" charset="0"/>
                <a:cs typeface="Copperplate Gothic Light" panose="020E0507020206020404" charset="0"/>
                <a:sym typeface="+mn-ea"/>
              </a:rPr>
              <a:t>Yunus Aslam Bagewadi</a:t>
            </a:r>
            <a:endParaRPr lang="en-US" sz="500" dirty="0">
              <a:solidFill>
                <a:srgbClr val="363537"/>
              </a:solidFill>
              <a:latin typeface="Copperplate Gothic Light" panose="020E0507020206020404" charset="0"/>
              <a:ea typeface="Roboto Bk" pitchFamily="2" charset="0"/>
              <a:cs typeface="Copperplate Gothic Light" panose="020E0507020206020404" charset="0"/>
            </a:endParaRPr>
          </a:p>
          <a:p>
            <a:r>
              <a:rPr lang="en-US" sz="500" b="1" dirty="0">
                <a:solidFill>
                  <a:srgbClr val="363537"/>
                </a:solidFill>
                <a:latin typeface="Copperplate Gothic Light" panose="020E0507020206020404" charset="0"/>
                <a:ea typeface="Roboto Bk" pitchFamily="2" charset="0"/>
                <a:cs typeface="Copperplate Gothic Light" panose="020E0507020206020404" charset="0"/>
                <a:sym typeface="+mn-ea"/>
              </a:rPr>
              <a:t>Class:  </a:t>
            </a:r>
            <a:r>
              <a:rPr lang="en-US" sz="500" dirty="0">
                <a:solidFill>
                  <a:srgbClr val="363537"/>
                </a:solidFill>
                <a:latin typeface="Copperplate Gothic Light" panose="020E0507020206020404" charset="0"/>
                <a:ea typeface="Roboto Bk" pitchFamily="2" charset="0"/>
                <a:cs typeface="Copperplate Gothic Light" panose="020E0507020206020404" charset="0"/>
                <a:sym typeface="+mn-ea"/>
              </a:rPr>
              <a:t>T.Y.B.Sc.Computer Science</a:t>
            </a:r>
            <a:endParaRPr lang="en-US" sz="500" dirty="0">
              <a:solidFill>
                <a:srgbClr val="363537"/>
              </a:solidFill>
              <a:latin typeface="Copperplate Gothic Light" panose="020E0507020206020404" charset="0"/>
              <a:ea typeface="Roboto Bk" pitchFamily="2" charset="0"/>
              <a:cs typeface="Copperplate Gothic Light" panose="020E0507020206020404" charset="0"/>
            </a:endParaRPr>
          </a:p>
          <a:p>
            <a:r>
              <a:rPr lang="en-US" sz="500" b="1" dirty="0">
                <a:solidFill>
                  <a:srgbClr val="363537"/>
                </a:solidFill>
                <a:latin typeface="Copperplate Gothic Light" panose="020E0507020206020404" charset="0"/>
                <a:ea typeface="Roboto Bk" pitchFamily="2" charset="0"/>
                <a:cs typeface="Copperplate Gothic Light" panose="020E0507020206020404" charset="0"/>
                <a:sym typeface="+mn-ea"/>
              </a:rPr>
              <a:t>Div:</a:t>
            </a:r>
            <a:r>
              <a:rPr lang="en-US" sz="500" dirty="0">
                <a:solidFill>
                  <a:srgbClr val="363537"/>
                </a:solidFill>
                <a:latin typeface="Copperplate Gothic Light" panose="020E0507020206020404" charset="0"/>
                <a:ea typeface="Roboto Bk" pitchFamily="2" charset="0"/>
                <a:cs typeface="Copperplate Gothic Light" panose="020E0507020206020404" charset="0"/>
                <a:sym typeface="+mn-ea"/>
              </a:rPr>
              <a:t>  A</a:t>
            </a:r>
            <a:endParaRPr lang="en-US" sz="500" dirty="0">
              <a:solidFill>
                <a:srgbClr val="363537"/>
              </a:solidFill>
              <a:latin typeface="Copperplate Gothic Light" panose="020E0507020206020404" charset="0"/>
              <a:ea typeface="Roboto Bk" pitchFamily="2" charset="0"/>
              <a:cs typeface="Copperplate Gothic Light" panose="020E0507020206020404" charset="0"/>
            </a:endParaRPr>
          </a:p>
          <a:p>
            <a:r>
              <a:rPr lang="en-US" sz="500" b="1" dirty="0">
                <a:solidFill>
                  <a:srgbClr val="363537"/>
                </a:solidFill>
                <a:latin typeface="Copperplate Gothic Light" panose="020E0507020206020404" charset="0"/>
                <a:ea typeface="Roboto Bk" pitchFamily="2" charset="0"/>
                <a:cs typeface="Copperplate Gothic Light" panose="020E0507020206020404" charset="0"/>
                <a:sym typeface="+mn-ea"/>
              </a:rPr>
              <a:t>Roll  No.:</a:t>
            </a:r>
            <a:r>
              <a:rPr lang="en-US" sz="500" dirty="0">
                <a:solidFill>
                  <a:srgbClr val="363537"/>
                </a:solidFill>
                <a:latin typeface="Copperplate Gothic Light" panose="020E0507020206020404" charset="0"/>
                <a:ea typeface="Roboto Bk" pitchFamily="2" charset="0"/>
                <a:cs typeface="Copperplate Gothic Light" panose="020E0507020206020404" charset="0"/>
                <a:sym typeface="+mn-ea"/>
              </a:rPr>
              <a:t>  210</a:t>
            </a:r>
            <a:endParaRPr lang="en-US" sz="500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 Box 8"/>
          <p:cNvSpPr txBox="1"/>
          <p:nvPr/>
        </p:nvSpPr>
        <p:spPr>
          <a:xfrm>
            <a:off x="85725" y="122555"/>
            <a:ext cx="144272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700">
                <a:latin typeface="Copperplate Gothic Light" panose="020E0507020206020404" charset="0"/>
                <a:cs typeface="Copperplate Gothic Light" panose="020E0507020206020404" charset="0"/>
              </a:rPr>
              <a:t>Data-Inn Offer Letter:</a:t>
            </a:r>
            <a:endParaRPr lang="en-US" altLang="en-US" sz="700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  <p:graphicFrame>
        <p:nvGraphicFramePr>
          <p:cNvPr id="2" name="Object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50670" y="0"/>
          <a:ext cx="129413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4257675" imgH="6015355" progId="Acrobat.Document.DC">
                  <p:embed/>
                </p:oleObj>
              </mc:Choice>
              <mc:Fallback>
                <p:oleObj name="" r:id="rId1" imgW="4257675" imgH="6015355" progId="Acrobat.Document.DC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50670" y="0"/>
                        <a:ext cx="1294130" cy="18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 Box 8"/>
          <p:cNvSpPr txBox="1"/>
          <p:nvPr/>
        </p:nvSpPr>
        <p:spPr>
          <a:xfrm>
            <a:off x="85725" y="122555"/>
            <a:ext cx="14427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700">
                <a:latin typeface="Copperplate Gothic Light" panose="020E0507020206020404" charset="0"/>
                <a:cs typeface="Copperplate Gothic Light" panose="020E0507020206020404" charset="0"/>
              </a:rPr>
              <a:t>Data-Inn Completion Letter:</a:t>
            </a:r>
            <a:endParaRPr lang="en-US" altLang="en-US" sz="700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  <p:graphicFrame>
        <p:nvGraphicFramePr>
          <p:cNvPr id="2" name="Object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28445" y="0"/>
          <a:ext cx="129286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1" imgW="4257675" imgH="6022340" progId="Acrobat.Document.DC">
                  <p:embed/>
                </p:oleObj>
              </mc:Choice>
              <mc:Fallback>
                <p:oleObj name="" r:id="rId1" imgW="4257675" imgH="6022340" progId="Acrobat.Document.DC">
                  <p:embed/>
                  <p:pic>
                    <p:nvPicPr>
                      <p:cNvPr id="0" name="Picture 20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8445" y="0"/>
                        <a:ext cx="1292860" cy="18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345" y="61595"/>
            <a:ext cx="2887345" cy="236220"/>
          </a:xfrm>
        </p:spPr>
        <p:txBody>
          <a:bodyPr/>
          <a:p>
            <a:r>
              <a:rPr lang="en-US" sz="1000">
                <a:latin typeface="Copperplate Gothic Light" panose="020E0507020206020404" charset="0"/>
                <a:cs typeface="Copperplate Gothic Light" panose="020E0507020206020404" charset="0"/>
              </a:rPr>
              <a:t>About </a:t>
            </a:r>
            <a:r>
              <a:rPr lang="en-US" sz="1000" b="1" spc="79" dirty="0">
                <a:solidFill>
                  <a:srgbClr val="363537"/>
                </a:solidFill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DataInn Technologies:</a:t>
            </a:r>
            <a:endParaRPr lang="en-US" sz="1000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3345" y="280035"/>
            <a:ext cx="2887345" cy="508000"/>
          </a:xfrm>
        </p:spPr>
        <p:txBody>
          <a:bodyPr anchor="t" anchorCtr="0">
            <a:normAutofit fontScale="80000"/>
          </a:bodyPr>
          <a:p>
            <a:pPr marL="0" indent="0" algn="l">
              <a:lnSpc>
                <a:spcPct val="170000"/>
              </a:lnSpc>
              <a:spcAft>
                <a:spcPts val="0"/>
              </a:spcAft>
              <a:buNone/>
            </a:pP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DataInn  Technologies  is  an  AI-focused  IT  consulting  firm  that  helps  organizations  design,  build,  and  scale  production-ready  AI  solutions.  The  company  specializes  in  AI  agents,  data  platforms,  and  decision  intelligence,  enabling  businesses  to  move  from  experimentation  to  real-world  impact.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20345" y="803910"/>
            <a:ext cx="1259840" cy="714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Industries Served:</a:t>
            </a:r>
            <a:endParaRPr lang="en-US" altLang="en-US" sz="600" b="1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b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</a:b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</a:rPr>
              <a:t>◦ Finance &amp; FinTech      </a:t>
            </a: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</a:t>
            </a: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</a:rPr>
              <a:t>Healthcare &amp; Life Sciences</a:t>
            </a: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</a:t>
            </a: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</a:rPr>
              <a:t>Legal &amp; Professional Services</a:t>
            </a: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</a:t>
            </a: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</a:rPr>
              <a:t>Retail &amp; E-commerce</a:t>
            </a: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</a:t>
            </a: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</a:rPr>
              <a:t>Manufacturing &amp; Enterprise Operations</a:t>
            </a: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602105" y="803910"/>
            <a:ext cx="1466850" cy="777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Core Expertise:</a:t>
            </a:r>
            <a:endParaRPr lang="en-US" altLang="en-US" sz="600" b="1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endParaRPr lang="en-US" altLang="en-US" sz="300" b="1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</a:t>
            </a: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</a:rPr>
              <a:t>Artificial Intelligence &amp; Machine Learning</a:t>
            </a: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</a:t>
            </a: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</a:rPr>
              <a:t>Large Language Models (LLMs) &amp; AI Agents</a:t>
            </a: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</a:t>
            </a: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</a:rPr>
              <a:t>Data Engineering &amp; Analytics</a:t>
            </a: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altLang="en-US" sz="1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</a:t>
            </a:r>
            <a:r>
              <a:rPr lang="en-US" altLang="en-US" sz="450">
                <a:latin typeface="Copperplate Gothic Light" panose="020E0507020206020404" charset="0"/>
                <a:cs typeface="Copperplate Gothic Light" panose="020E0507020206020404" charset="0"/>
              </a:rPr>
              <a:t>Cloud &amp; Enterprise AI Architecture</a:t>
            </a:r>
            <a:endParaRPr lang="en-US" altLang="en-US" sz="450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opperplate Gothic Light" panose="020E0507020206020404" charset="0"/>
                <a:cs typeface="Copperplate Gothic Light" panose="020E0507020206020404" charset="0"/>
              </a:rPr>
              <a:t>Specialization </a:t>
            </a:r>
            <a:r>
              <a:rPr lang="en-US" b="1">
                <a:latin typeface="Copperplate Gothic Light" panose="020E0507020206020404" charset="0"/>
                <a:cs typeface="Copperplate Gothic Light" panose="020E0507020206020404" charset="0"/>
              </a:rPr>
              <a:t>in :</a:t>
            </a:r>
            <a:r>
              <a:rPr lang="en-US">
                <a:latin typeface="Copperplate Gothic Light" panose="020E0507020206020404" charset="0"/>
                <a:cs typeface="Copperplate Gothic Light" panose="020E0507020206020404" charset="0"/>
              </a:rPr>
              <a:t> Advance Java </a:t>
            </a:r>
            <a:endParaRPr lang="en-US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20028" y="486833"/>
            <a:ext cx="2760345" cy="1160357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b="1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Mode:</a:t>
            </a:r>
            <a:r>
              <a:rPr lang="en-US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 Remote</a:t>
            </a:r>
            <a:endParaRPr lang="en-US" b="1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en-US" b="1">
                <a:latin typeface="Copperplate Gothic Light" panose="020E0507020206020404" charset="0"/>
                <a:cs typeface="Copperplate Gothic Light" panose="020E0507020206020404" charset="0"/>
              </a:rPr>
              <a:t>Internship Period:</a:t>
            </a:r>
            <a:r>
              <a:rPr lang="en-US">
                <a:latin typeface="Copperplate Gothic Light" panose="020E0507020206020404" charset="0"/>
                <a:cs typeface="Copperplate Gothic Light" panose="020E0507020206020404" charset="0"/>
              </a:rPr>
              <a:t> 18-November-2025  To  18-February-2025</a:t>
            </a:r>
            <a:endParaRPr lang="en-US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endParaRPr lang="en-US" sz="1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>
                <a:latin typeface="Copperplate Gothic Light" panose="020E0507020206020404" charset="0"/>
                <a:cs typeface="Copperplate Gothic Light" panose="020E0507020206020404" charset="0"/>
              </a:rPr>
              <a:t>Technologies Actively Working On:</a:t>
            </a:r>
            <a:br>
              <a:rPr lang="en-US">
                <a:latin typeface="Copperplate Gothic Light" panose="020E0507020206020404" charset="0"/>
                <a:cs typeface="Copperplate Gothic Light" panose="020E0507020206020404" charset="0"/>
              </a:rPr>
            </a:br>
            <a:r>
              <a:rPr lang="en-US" altLang="en-US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Java		◦ JDBC	◦ PostgreSQL   		◦ JPA		</a:t>
            </a:r>
            <a:endParaRPr lang="en-US" altLang="en-US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SDLC Documentation</a:t>
            </a:r>
            <a:r>
              <a:rPr lang="en-US" altLang="en-US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		◦ </a:t>
            </a:r>
            <a:r>
              <a:rPr lang="en-US" altLang="en-US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Git/GitHub 	</a:t>
            </a:r>
            <a:endParaRPr lang="en-US" altLang="en-US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JSON APIs	</a:t>
            </a:r>
            <a:endParaRPr lang="en-US" altLang="en-US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buNone/>
            </a:pPr>
            <a:endParaRPr lang="en-US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endParaRPr lang="en-US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405" y="59690"/>
            <a:ext cx="2915285" cy="297815"/>
          </a:xfrm>
        </p:spPr>
        <p:txBody>
          <a:bodyPr/>
          <a:p>
            <a:r>
              <a:rPr lang="en-US" b="1">
                <a:latin typeface="Copperplate Gothic Light" panose="020E0507020206020404" charset="0"/>
                <a:cs typeface="Copperplate Gothic Light" panose="020E0507020206020404" charset="0"/>
              </a:rPr>
              <a:t>Tasks Assigned:</a:t>
            </a:r>
            <a:endParaRPr lang="en-US" b="1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5405" y="396240"/>
            <a:ext cx="2915285" cy="1250950"/>
          </a:xfrm>
        </p:spPr>
        <p:txBody>
          <a:bodyPr/>
          <a:p>
            <a:pPr marL="0" indent="0">
              <a:lnSpc>
                <a:spcPct val="120000"/>
              </a:lnSpc>
              <a:buNone/>
            </a:pPr>
            <a:r>
              <a:rPr lang="en-US" sz="500" b="1">
                <a:latin typeface="Copperplate Gothic Light" panose="020E0507020206020404" charset="0"/>
                <a:cs typeface="Copperplate Gothic Light" panose="020E0507020206020404" charset="0"/>
              </a:rPr>
              <a:t>MAJOR TASK 1: </a:t>
            </a:r>
            <a:endParaRPr lang="en-US" sz="500" b="1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U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nderstanding how to </a:t>
            </a:r>
            <a:r>
              <a:rPr lang="en-US" altLang="en-US" sz="500" b="1">
                <a:latin typeface="Copperplate Gothic Light" panose="020E0507020206020404" charset="0"/>
                <a:cs typeface="Copperplate Gothic Light" panose="020E0507020206020404" charset="0"/>
              </a:rPr>
              <a:t>create a simple database, tables, insert data, and write basic SQL queries.</a:t>
            </a:r>
            <a:endParaRPr lang="en-US" altLang="en-US" sz="500" b="1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Learn how to connect Java to PostgreSQL and perform very simple </a:t>
            </a:r>
            <a:r>
              <a:rPr lang="en-US" altLang="en-US" sz="500" b="1">
                <a:latin typeface="Copperplate Gothic Light" panose="020E0507020206020404" charset="0"/>
                <a:cs typeface="Copperplate Gothic Light" panose="020E0507020206020404" charset="0"/>
              </a:rPr>
              <a:t>CRUD operations.</a:t>
            </a:r>
            <a:endParaRPr lang="en-US" altLang="en-US" sz="500" b="1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GitHub Setup &amp; Push: </a:t>
            </a:r>
            <a:r>
              <a:rPr lang="en-US" altLang="en-US" sz="500" b="1">
                <a:latin typeface="Copperplate Gothic Light" panose="020E0507020206020404" charset="0"/>
                <a:cs typeface="Copperplate Gothic Light" panose="020E0507020206020404" charset="0"/>
              </a:rPr>
              <a:t>Version control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 and code publishing.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Understanding and implementing </a:t>
            </a:r>
            <a:r>
              <a:rPr lang="en-US" altLang="en-US" sz="500" b="1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Object Oriented Programming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 concepts.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Creating modules like BankAccount, StudentMGMT, EmployeeMGMT, etc.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Implementing </a:t>
            </a:r>
            <a:r>
              <a:rPr lang="en-US" altLang="en-US" sz="500" b="1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JDBC CRUD operations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 via OOPs concepts.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08585" y="74295"/>
            <a:ext cx="2978150" cy="1659255"/>
          </a:xfrm>
        </p:spPr>
        <p:txBody>
          <a:bodyPr>
            <a:normAutofit lnSpcReduction="10000"/>
          </a:bodyPr>
          <a:p>
            <a:pPr marL="0" indent="0">
              <a:lnSpc>
                <a:spcPct val="110000"/>
              </a:lnSpc>
              <a:buNone/>
            </a:pPr>
            <a:r>
              <a:rPr lang="en-US" sz="500" b="1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MAJOR TASK 2: </a:t>
            </a:r>
            <a:endParaRPr lang="en-US" sz="500" b="1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500" b="1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 </a:t>
            </a:r>
            <a:r>
              <a:rPr lang="en-US" altLang="en-US" sz="500" b="1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Implementing Collection built-in data structures such as:</a:t>
            </a:r>
            <a:endParaRPr lang="en-US" altLang="en-US" sz="500" b="1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500">
                <a:latin typeface="Copperplate Gothic Light" panose="020E0507020206020404" charset="0"/>
                <a:cs typeface="Copperplate Gothic Light" panose="020E0507020206020404" charset="0"/>
              </a:rPr>
              <a:t> 	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ArrayList&lt;&gt;	◦ HashSet&lt;&gt;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500">
                <a:latin typeface="Copperplate Gothic Light" panose="020E0507020206020404" charset="0"/>
                <a:cs typeface="Copperplate Gothic Light" panose="020E0507020206020404" charset="0"/>
              </a:rPr>
              <a:t> 	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TreeSet&lt;&gt;	◦ LinkedList&lt;&gt;</a:t>
            </a:r>
            <a:r>
              <a:rPr lang="en-US" sz="500">
                <a:latin typeface="Copperplate Gothic Light" panose="020E0507020206020404" charset="0"/>
                <a:cs typeface="Copperplate Gothic Light" panose="020E0507020206020404" charset="0"/>
              </a:rPr>
              <a:t> 	</a:t>
            </a:r>
            <a:endParaRPr 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500">
                <a:latin typeface="Copperplate Gothic Light" panose="020E0507020206020404" charset="0"/>
                <a:cs typeface="Copperplate Gothic Light" panose="020E0507020206020404" charset="0"/>
              </a:rPr>
              <a:t> 	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Map&lt;&gt;		◦ HashMap&lt;&gt;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 	◦ TreeMap&lt;&gt;	◦ LinkedHashMap&lt;&gt;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500" b="1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And implementing problems based on above Collections, such as: 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 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500">
                <a:latin typeface="Copperplate Gothic Light" panose="020E0507020206020404" charset="0"/>
                <a:cs typeface="Copperplate Gothic Light" panose="020E0507020206020404" charset="0"/>
              </a:rPr>
              <a:t> 	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Browser Tab History Behavior	◦ Exam Submission Behavior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Understanding which Collection data structure is efficient for a given scenario / problem.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 sz="500" b="1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◦ Implementing Interation Classes and Methods, which included concepts like:</a:t>
            </a:r>
            <a:b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</a:b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	◦ Iterator&lt;&gt;		◦ ListIterator&lt;&gt;	◦ ForEach Iterator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90805" y="78740"/>
            <a:ext cx="3026410" cy="1652270"/>
          </a:xfrm>
        </p:spPr>
        <p:txBody>
          <a:bodyPr>
            <a:normAutofit/>
          </a:bodyPr>
          <a:p>
            <a:pPr marL="0" indent="0">
              <a:lnSpc>
                <a:spcPct val="130000"/>
              </a:lnSpc>
              <a:buNone/>
            </a:pPr>
            <a:r>
              <a:rPr lang="en-US" sz="600" b="1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MAJOR TASK 3: </a:t>
            </a:r>
            <a:endParaRPr lang="en-US" sz="600" b="1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Built a basic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REST API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 using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Spring Boot 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to perform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CRUD operations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 on a database table.</a:t>
            </a:r>
            <a:endParaRPr lang="en-US" altLang="en-US" sz="6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Implemented Entity,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JPA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 Repository, Service Layer, and REST Controller using standard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Spring Boot annotations.</a:t>
            </a:r>
            <a:endParaRPr lang="en-US" altLang="en-US" sz="600" b="1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Configured the database and tested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API endpoints (POST, GET, PUT, DELETE)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 using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Postman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.</a:t>
            </a:r>
            <a:endParaRPr lang="en-US" altLang="en-US" sz="6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Used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custom JPA queries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 to fetch data from the database.</a:t>
            </a:r>
            <a:endParaRPr lang="en-US" altLang="en-US" sz="6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Implemented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pagination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 and sorting using the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Pageable interface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.</a:t>
            </a:r>
            <a:endParaRPr lang="en-US" altLang="en-US" sz="6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en-US" sz="6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Integrated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Liquibase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 for database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schema versioning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 and smooth migration during deployments.</a:t>
            </a:r>
            <a:endParaRPr lang="en-US" altLang="en-US" sz="6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en-US" sz="600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0" y="57785"/>
            <a:ext cx="3100070" cy="170942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700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Project Details:</a:t>
            </a:r>
            <a:endParaRPr lang="en-US" sz="700">
              <a:latin typeface="Copperplate Gothic Light" panose="020E0507020206020404" charset="0"/>
              <a:cs typeface="Copperplate Gothic Light" panose="020E0507020206020404" charset="0"/>
              <a:sym typeface="+mn-ea"/>
            </a:endParaRPr>
          </a:p>
          <a:p>
            <a:pPr marL="0" indent="0">
              <a:buNone/>
            </a:pPr>
            <a:endParaRPr lang="en-US" sz="1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zh-CN" altLang="en-US" sz="500">
                <a:latin typeface="Copperplate Gothic Light" panose="020E0507020206020404" charset="0"/>
                <a:cs typeface="Copperplate Gothic Light" panose="020E0507020206020404" charset="0"/>
              </a:rPr>
              <a:t>♣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ResumeAgent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 is an </a:t>
            </a:r>
            <a:r>
              <a:rPr lang="en-US" altLang="en-US" sz="600" b="1">
                <a:latin typeface="Copperplate Gothic Light" panose="020E0507020206020404" charset="0"/>
                <a:cs typeface="Copperplate Gothic Light" panose="020E0507020206020404" charset="0"/>
              </a:rPr>
              <a:t>AI-powered</a:t>
            </a:r>
            <a:r>
              <a:rPr lang="en-US" altLang="en-US" sz="600">
                <a:latin typeface="Copperplate Gothic Light" panose="020E0507020206020404" charset="0"/>
                <a:cs typeface="Copperplate Gothic Light" panose="020E0507020206020404" charset="0"/>
              </a:rPr>
              <a:t> platform that converts a single master resume into job-specific ATS-optimized resumes.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zh-CN" altLang="en-US" sz="500">
                <a:latin typeface="Copperplate Gothic Light" panose="020E0507020206020404" charset="0"/>
                <a:cs typeface="Copperplate Gothic Light" panose="020E0507020206020404" charset="0"/>
              </a:rPr>
              <a:t>♣</a:t>
            </a:r>
            <a:r>
              <a:rPr lang="en-US" altLang="en-US" sz="700">
                <a:latin typeface="Copperplate Gothic Light" panose="020E0507020206020404" charset="0"/>
                <a:cs typeface="Copperplate Gothic Light" panose="020E0507020206020404" charset="0"/>
              </a:rPr>
              <a:t>Key Features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AI analyzes job description + resume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Automatically matches skills and experience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Generates tailored resumes for each job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Produces professional, editable DOCX files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Ensures ATS compatibility and keyword alignment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zh-CN" altLang="en-US" sz="500">
                <a:latin typeface="Copperplate Gothic Light" panose="020E0507020206020404" charset="0"/>
                <a:cs typeface="Copperplate Gothic Light" panose="020E0507020206020404" charset="0"/>
              </a:rPr>
              <a:t>♣</a:t>
            </a:r>
            <a:r>
              <a:rPr lang="en-US" altLang="en-US" sz="700">
                <a:latin typeface="Copperplate Gothic Light" panose="020E0507020206020404" charset="0"/>
                <a:cs typeface="Copperplate Gothic Light" panose="020E0507020206020404" charset="0"/>
              </a:rPr>
              <a:t>Impact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Saves time for job seekers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Improves ATS pass rate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  <a:p>
            <a:pPr marL="0" indent="0">
              <a:buNone/>
            </a:pPr>
            <a:r>
              <a:rPr lang="en-US" altLang="en-US" sz="500" b="1">
                <a:latin typeface="Bahnschrift" panose="020B0502040204020203" charset="0"/>
                <a:cs typeface="Bahnschrift" panose="020B0502040204020203" charset="0"/>
                <a:sym typeface="+mn-ea"/>
              </a:rPr>
              <a:t>◦ </a:t>
            </a:r>
            <a:r>
              <a:rPr lang="en-US" altLang="en-US" sz="500">
                <a:latin typeface="Copperplate Gothic Light" panose="020E0507020206020404" charset="0"/>
                <a:cs typeface="Copperplate Gothic Light" panose="020E0507020206020404" charset="0"/>
              </a:rPr>
              <a:t>Maintains factual accuracy without hallucinated content</a:t>
            </a:r>
            <a:endParaRPr lang="en-US" altLang="en-US" sz="500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00" y="54610"/>
            <a:ext cx="2917190" cy="241300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♣</a:t>
            </a:r>
            <a:r>
              <a:rPr lang="en-US" altLang="en-US">
                <a:latin typeface="Copperplate Gothic Light" panose="020E0507020206020404" charset="0"/>
                <a:cs typeface="Copperplate Gothic Light" panose="020E0507020206020404" charset="0"/>
              </a:rPr>
              <a:t>AI-driven resume optimization flowchart</a:t>
            </a:r>
            <a:endParaRPr lang="en-US" altLang="en-US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  <p:pic>
        <p:nvPicPr>
          <p:cNvPr id="4" name="Picture 3" descr="flowchat-resumeagent-workfl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5" y="295910"/>
            <a:ext cx="3083560" cy="13754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0" y="63500"/>
            <a:ext cx="2928620" cy="263525"/>
          </a:xfrm>
        </p:spPr>
        <p:txBody>
          <a:bodyPr/>
          <a:p>
            <a:pPr marL="0" indent="0">
              <a:buNone/>
            </a:pPr>
            <a:r>
              <a:rPr lang="zh-CN" altLang="en-US">
                <a:latin typeface="Copperplate Gothic Light" panose="020E0507020206020404" charset="0"/>
                <a:cs typeface="Copperplate Gothic Light" panose="020E0507020206020404" charset="0"/>
                <a:sym typeface="+mn-ea"/>
              </a:rPr>
              <a:t>♣</a:t>
            </a:r>
            <a:r>
              <a:rPr lang="en-US" altLang="en-US">
                <a:latin typeface="Copperplate Gothic Light" panose="020E0507020206020404" charset="0"/>
                <a:cs typeface="Copperplate Gothic Light" panose="020E0507020206020404" charset="0"/>
              </a:rPr>
              <a:t>ResumeAgent Technology stack: </a:t>
            </a:r>
            <a:endParaRPr lang="en-US" altLang="en-US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  <p:pic>
        <p:nvPicPr>
          <p:cNvPr id="4" name="Picture 3" descr="tech-stack-resumeag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27025"/>
            <a:ext cx="2743200" cy="14338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656749" y="753269"/>
            <a:ext cx="2082260" cy="2197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840">
                <a:latin typeface="Copperplate Gothic Light" panose="020E0507020206020404" charset="0"/>
                <a:cs typeface="Copperplate Gothic Light" panose="020E0507020206020404" charset="0"/>
              </a:rPr>
              <a:t>THANK YOU FOR BEING </a:t>
            </a:r>
            <a:r>
              <a:rPr lang="en-US" altLang="en-US" sz="840">
                <a:latin typeface="Copperplate Gothic Light" panose="020E0507020206020404" charset="0"/>
                <a:cs typeface="Copperplate Gothic Light" panose="020E0507020206020404" charset="0"/>
              </a:rPr>
              <a:t>PATIENT</a:t>
            </a:r>
            <a:endParaRPr lang="en-US" altLang="en-US" sz="840">
              <a:latin typeface="Copperplate Gothic Light" panose="020E0507020206020404" charset="0"/>
              <a:cs typeface="Copperplate Gothic Light" panose="020E05070202060204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3159</Words>
  <Application>WPS Presentation</Application>
  <PresentationFormat>自定义</PresentationFormat>
  <Paragraphs>104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SimSun</vt:lpstr>
      <vt:lpstr>Wingdings</vt:lpstr>
      <vt:lpstr>Copperplate Gothic Light</vt:lpstr>
      <vt:lpstr>Calibri</vt:lpstr>
      <vt:lpstr>Roboto Bk</vt:lpstr>
      <vt:lpstr>Segoe Print</vt:lpstr>
      <vt:lpstr>Bahnschrift</vt:lpstr>
      <vt:lpstr>Microsoft YaHei</vt:lpstr>
      <vt:lpstr>Arial Unicode MS</vt:lpstr>
      <vt:lpstr>Calibri Light</vt:lpstr>
      <vt:lpstr>Bahnschrift SemiLight</vt:lpstr>
      <vt:lpstr>等线</vt:lpstr>
      <vt:lpstr>Office Theme</vt:lpstr>
      <vt:lpstr>Acrobat.Document.DC</vt:lpstr>
      <vt:lpstr>Acrobat.Document.DC</vt:lpstr>
      <vt:lpstr>PowerPoint 演示文稿</vt:lpstr>
      <vt:lpstr>PowerPoint 演示文稿</vt:lpstr>
      <vt:lpstr>PowerPoint 演示文稿</vt:lpstr>
      <vt:lpstr>About DataInn Technologies:</vt:lpstr>
      <vt:lpstr>Specialization in : Advance Java </vt:lpstr>
      <vt:lpstr>Tasks Assigned: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Card</dc:title>
  <dc:creator>copyright@2019—dreamer; ABATARA1</dc:creator>
  <cp:lastModifiedBy>A. B.P.</cp:lastModifiedBy>
  <cp:revision>53</cp:revision>
  <dcterms:created xsi:type="dcterms:W3CDTF">2016-11-30T16:23:00Z</dcterms:created>
  <dcterms:modified xsi:type="dcterms:W3CDTF">2026-03-05T21:52:07Z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E99FAA5FF42E462C9FCB681E163F137E_13</vt:lpwstr>
  </property>
  <property fmtid="{D5CDD505-2E9C-101B-9397-08002B2CF9AE}" pid="3" name="KSOProductBuildVer">
    <vt:lpwstr>1033-12.2.0.23196</vt:lpwstr>
  </property>
</Properties>
</file>