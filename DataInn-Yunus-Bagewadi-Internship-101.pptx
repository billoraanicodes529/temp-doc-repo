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65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5" r:id="rId11"/>
  </p:sldIdLst>
  <p:sldSz cx="3200400" cy="1828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4141"/>
    <a:srgbClr val="FFFC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67" autoAdjust="0"/>
    <p:restoredTop sz="94280" autoAdjust="0"/>
  </p:normalViewPr>
  <p:slideViewPr>
    <p:cSldViewPr snapToGrid="0">
      <p:cViewPr varScale="1">
        <p:scale>
          <a:sx n="284" d="100"/>
          <a:sy n="284" d="100"/>
        </p:scale>
        <p:origin x="1133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B8DC8F-CB6F-4533-A8E2-F07682B58336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43000"/>
            <a:ext cx="5400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2AB5F-591D-4B56-9091-1F8F97E45115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050" y="299297"/>
            <a:ext cx="2400300" cy="636693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050" y="960543"/>
            <a:ext cx="2400300" cy="441537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0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361" y="455930"/>
            <a:ext cx="2760345" cy="760730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361" y="1223857"/>
            <a:ext cx="2760345" cy="400050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0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028" y="486833"/>
            <a:ext cx="1360170" cy="11603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0203" y="486833"/>
            <a:ext cx="1360170" cy="11603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4" y="97367"/>
            <a:ext cx="2760345" cy="35348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45" y="448310"/>
            <a:ext cx="1353919" cy="219710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0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445" y="668020"/>
            <a:ext cx="1353919" cy="9825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0202" y="448310"/>
            <a:ext cx="1360587" cy="219710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0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0202" y="668020"/>
            <a:ext cx="1360587" cy="9825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1920"/>
            <a:ext cx="1032212" cy="426720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0587" y="263314"/>
            <a:ext cx="1620203" cy="1299633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8640"/>
            <a:ext cx="1032212" cy="1016423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70"/>
            </a:lvl2pPr>
            <a:lvl3pPr marL="240030" indent="0">
              <a:buNone/>
              <a:defRPr sz="315"/>
            </a:lvl3pPr>
            <a:lvl4pPr marL="360045" indent="0">
              <a:buNone/>
              <a:defRPr sz="265"/>
            </a:lvl4pPr>
            <a:lvl5pPr marL="480060" indent="0">
              <a:buNone/>
              <a:defRPr sz="265"/>
            </a:lvl5pPr>
            <a:lvl6pPr marL="600075" indent="0">
              <a:buNone/>
              <a:defRPr sz="265"/>
            </a:lvl6pPr>
            <a:lvl7pPr marL="720090" indent="0">
              <a:buNone/>
              <a:defRPr sz="265"/>
            </a:lvl7pPr>
            <a:lvl8pPr marL="840105" indent="0">
              <a:buNone/>
              <a:defRPr sz="265"/>
            </a:lvl8pPr>
            <a:lvl9pPr marL="960120" indent="0">
              <a:buNone/>
              <a:defRPr sz="265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1920"/>
            <a:ext cx="1032212" cy="426720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0587" y="263314"/>
            <a:ext cx="1620203" cy="1299633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en-US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8640"/>
            <a:ext cx="1032212" cy="1016423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70"/>
            </a:lvl2pPr>
            <a:lvl3pPr marL="240030" indent="0">
              <a:buNone/>
              <a:defRPr sz="315"/>
            </a:lvl3pPr>
            <a:lvl4pPr marL="360045" indent="0">
              <a:buNone/>
              <a:defRPr sz="265"/>
            </a:lvl4pPr>
            <a:lvl5pPr marL="480060" indent="0">
              <a:buNone/>
              <a:defRPr sz="265"/>
            </a:lvl5pPr>
            <a:lvl6pPr marL="600075" indent="0">
              <a:buNone/>
              <a:defRPr sz="265"/>
            </a:lvl6pPr>
            <a:lvl7pPr marL="720090" indent="0">
              <a:buNone/>
              <a:defRPr sz="265"/>
            </a:lvl7pPr>
            <a:lvl8pPr marL="840105" indent="0">
              <a:buNone/>
              <a:defRPr sz="265"/>
            </a:lvl8pPr>
            <a:lvl9pPr marL="960120" indent="0">
              <a:buNone/>
              <a:defRPr sz="265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0286" y="97367"/>
            <a:ext cx="690086" cy="1549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027" y="97367"/>
            <a:ext cx="2030254" cy="154982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028" y="97367"/>
            <a:ext cx="2760345" cy="353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028" y="486833"/>
            <a:ext cx="2760345" cy="11603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028" y="1695027"/>
            <a:ext cx="72009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C2881D-60FC-4736-B065-0A01D4CDA07A}" type="datetimeFigureOut">
              <a:rPr lang="en-GB" smtClean="0"/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0133" y="1695027"/>
            <a:ext cx="1080135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0283" y="1695027"/>
            <a:ext cx="720090" cy="973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121548-E10E-45A6-B9E2-CA15064B7E56}" type="slidenum">
              <a:rPr lang="en-GB" smtClean="0"/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240030" rtl="0" eaLnBrk="1" latinLnBrk="0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325" indent="-60325" algn="l" defTabSz="240030" rtl="0" eaLnBrk="1" latinLnBrk="0" hangingPunct="1">
        <a:lnSpc>
          <a:spcPct val="90000"/>
        </a:lnSpc>
        <a:spcBef>
          <a:spcPts val="265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340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355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370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470" kern="1200">
          <a:solidFill>
            <a:schemeClr val="tx1"/>
          </a:solidFill>
          <a:latin typeface="+mn-lt"/>
          <a:ea typeface="+mn-ea"/>
          <a:cs typeface="+mn-cs"/>
        </a:defRPr>
      </a:lvl4pPr>
      <a:lvl5pPr marL="540385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470" kern="1200">
          <a:solidFill>
            <a:schemeClr val="tx1"/>
          </a:solidFill>
          <a:latin typeface="+mn-lt"/>
          <a:ea typeface="+mn-ea"/>
          <a:cs typeface="+mn-cs"/>
        </a:defRPr>
      </a:lvl5pPr>
      <a:lvl6pPr marL="660400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470" kern="1200">
          <a:solidFill>
            <a:schemeClr val="tx1"/>
          </a:solidFill>
          <a:latin typeface="+mn-lt"/>
          <a:ea typeface="+mn-ea"/>
          <a:cs typeface="+mn-cs"/>
        </a:defRPr>
      </a:lvl6pPr>
      <a:lvl7pPr marL="780415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470" kern="1200">
          <a:solidFill>
            <a:schemeClr val="tx1"/>
          </a:solidFill>
          <a:latin typeface="+mn-lt"/>
          <a:ea typeface="+mn-ea"/>
          <a:cs typeface="+mn-cs"/>
        </a:defRPr>
      </a:lvl7pPr>
      <a:lvl8pPr marL="900430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470" kern="1200">
          <a:solidFill>
            <a:schemeClr val="tx1"/>
          </a:solidFill>
          <a:latin typeface="+mn-lt"/>
          <a:ea typeface="+mn-ea"/>
          <a:cs typeface="+mn-cs"/>
        </a:defRPr>
      </a:lvl8pPr>
      <a:lvl9pPr marL="1020445" indent="-60325" algn="l" defTabSz="240030" rtl="0" eaLnBrk="1" latinLnBrk="0" hangingPunct="1">
        <a:lnSpc>
          <a:spcPct val="90000"/>
        </a:lnSpc>
        <a:spcBef>
          <a:spcPts val="130"/>
        </a:spcBef>
        <a:buFont typeface="Arial" panose="020B0604020202020204" pitchFamily="34" charset="0"/>
        <a:buChar char="•"/>
        <a:defRPr sz="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0" hangingPunct="1">
        <a:defRPr sz="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l="43361" t="42898" r="5342" b="25328"/>
          <a:stretch>
            <a:fillRect/>
          </a:stretch>
        </p:blipFill>
        <p:spPr>
          <a:xfrm>
            <a:off x="0" y="320"/>
            <a:ext cx="3200400" cy="182848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1934210" y="914400"/>
            <a:ext cx="1125855" cy="48831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500" b="1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Name:</a:t>
            </a:r>
            <a:r>
              <a:rPr lang="en-US" sz="500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  </a:t>
            </a:r>
            <a:r>
              <a:rPr lang="en-US" sz="500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Yunus Aslam Bagewadi</a:t>
            </a:r>
            <a:endParaRPr lang="en-US" sz="500" dirty="0">
              <a:solidFill>
                <a:srgbClr val="363537"/>
              </a:solidFill>
              <a:latin typeface="Bahnschrift" panose="020B0502040204020203" charset="0"/>
              <a:ea typeface="Roboto Bk" pitchFamily="2" charset="0"/>
              <a:cs typeface="Bahnschrift" panose="020B0502040204020203" charset="0"/>
            </a:endParaRPr>
          </a:p>
          <a:p>
            <a:r>
              <a:rPr lang="en-US" sz="500" b="1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Class:  </a:t>
            </a:r>
            <a:r>
              <a:rPr lang="en-US" sz="500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T.Y.B.Sc.Computer Science</a:t>
            </a:r>
            <a:endParaRPr lang="en-US" sz="500" dirty="0">
              <a:solidFill>
                <a:srgbClr val="363537"/>
              </a:solidFill>
              <a:latin typeface="Bahnschrift" panose="020B0502040204020203" charset="0"/>
              <a:ea typeface="Roboto Bk" pitchFamily="2" charset="0"/>
              <a:cs typeface="Bahnschrift" panose="020B0502040204020203" charset="0"/>
            </a:endParaRPr>
          </a:p>
          <a:p>
            <a:r>
              <a:rPr lang="en-US" sz="500" b="1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Div:</a:t>
            </a:r>
            <a:r>
              <a:rPr lang="en-US" sz="500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  </a:t>
            </a:r>
            <a:r>
              <a:rPr lang="en-US" sz="500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A</a:t>
            </a:r>
            <a:endParaRPr lang="en-US" sz="500" dirty="0">
              <a:solidFill>
                <a:srgbClr val="363537"/>
              </a:solidFill>
              <a:latin typeface="Bahnschrift" panose="020B0502040204020203" charset="0"/>
              <a:ea typeface="Roboto Bk" pitchFamily="2" charset="0"/>
              <a:cs typeface="Bahnschrift" panose="020B0502040204020203" charset="0"/>
            </a:endParaRPr>
          </a:p>
          <a:p>
            <a:r>
              <a:rPr lang="en-US" sz="500" b="1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Roll  No.:</a:t>
            </a:r>
            <a:r>
              <a:rPr lang="en-US" sz="500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  </a:t>
            </a:r>
            <a:r>
              <a:rPr lang="en-US" sz="500" dirty="0">
                <a:solidFill>
                  <a:srgbClr val="363537"/>
                </a:solidFill>
                <a:latin typeface="Bahnschrift" panose="020B0502040204020203" charset="0"/>
                <a:ea typeface="Roboto Bk" pitchFamily="2" charset="0"/>
                <a:cs typeface="Bahnschrift" panose="020B0502040204020203" charset="0"/>
              </a:rPr>
              <a:t>210</a:t>
            </a:r>
            <a:endParaRPr lang="en-US" sz="500" dirty="0">
              <a:solidFill>
                <a:srgbClr val="363537"/>
              </a:solidFill>
              <a:latin typeface="Bahnschrift" panose="020B0502040204020203" charset="0"/>
              <a:ea typeface="Roboto Bk" pitchFamily="2" charset="0"/>
              <a:cs typeface="Bahnschrift" panose="020B0502040204020203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989622" y="644564"/>
            <a:ext cx="106426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dist"/>
            <a:r>
              <a:rPr lang="en-US" sz="500" spc="79" dirty="0">
                <a:solidFill>
                  <a:srgbClr val="363537"/>
                </a:solidFill>
                <a:latin typeface="Bahnschrift" panose="020B0502040204020203" charset="0"/>
                <a:cs typeface="Bahnschrift" panose="020B0502040204020203" charset="0"/>
              </a:rPr>
              <a:t>Internship Provided By:</a:t>
            </a:r>
            <a:endParaRPr lang="en-US" sz="500" spc="79" dirty="0">
              <a:solidFill>
                <a:srgbClr val="363537"/>
              </a:solidFill>
              <a:latin typeface="Bahnschrift" panose="020B0502040204020203" charset="0"/>
              <a:cs typeface="Bahnschrift" panose="020B0502040204020203" charset="0"/>
            </a:endParaRPr>
          </a:p>
          <a:p>
            <a:r>
              <a:rPr lang="en-US" sz="500" b="1" spc="79" dirty="0">
                <a:solidFill>
                  <a:srgbClr val="363537"/>
                </a:solidFill>
                <a:latin typeface="Bahnschrift" panose="020B0502040204020203" charset="0"/>
                <a:cs typeface="Bahnschrift" panose="020B0502040204020203" charset="0"/>
              </a:rPr>
              <a:t>DataInn Technologies</a:t>
            </a:r>
            <a:endParaRPr lang="en-US" sz="500" b="1" spc="79" dirty="0">
              <a:solidFill>
                <a:srgbClr val="363537"/>
              </a:solidFill>
              <a:latin typeface="Bahnschrift" panose="020B0502040204020203" charset="0"/>
              <a:cs typeface="Bahnschrift" panose="020B0502040204020203" charset="0"/>
            </a:endParaRPr>
          </a:p>
        </p:txBody>
      </p:sp>
      <p:pic>
        <p:nvPicPr>
          <p:cNvPr id="5" name="Picture 4" descr="datainn-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365" y="278130"/>
            <a:ext cx="677545" cy="226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20345" y="97155"/>
            <a:ext cx="2760345" cy="291465"/>
          </a:xfrm>
        </p:spPr>
        <p:txBody>
          <a:bodyPr/>
          <a:p>
            <a:r>
              <a:rPr lang="en-US" sz="1000"/>
              <a:t>About </a:t>
            </a:r>
            <a:r>
              <a:rPr lang="en-US" sz="1000" b="1" spc="79" dirty="0">
                <a:solidFill>
                  <a:srgbClr val="363537"/>
                </a:solidFill>
                <a:latin typeface="Bahnschrift" panose="020B0502040204020203" charset="0"/>
                <a:cs typeface="Bahnschrift" panose="020B0502040204020203" charset="0"/>
                <a:sym typeface="+mn-ea"/>
              </a:rPr>
              <a:t>DataInn Technologies:</a:t>
            </a:r>
            <a:endParaRPr lang="en-US" sz="10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20345" y="361315"/>
            <a:ext cx="2760345" cy="426720"/>
          </a:xfrm>
        </p:spPr>
        <p:txBody>
          <a:bodyPr anchor="t" anchorCtr="0">
            <a:normAutofit lnSpcReduction="10000"/>
          </a:bodyPr>
          <a:p>
            <a:pPr marL="0" indent="0" algn="l">
              <a:lnSpc>
                <a:spcPct val="120000"/>
              </a:lnSpc>
              <a:spcAft>
                <a:spcPts val="0"/>
              </a:spcAft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DataInn  Technologies  is  an  AI-focused  IT  consulting  firm  that  helps  organizations  design,  build,  and  scale  production-ready  AI  solutions.  The  company  specializes  in  AI  agents,  data  platforms,  and  decision  intelligence,  enabling  businesses  to  move  from  experimentation  to  real-world  impact.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220345" y="803910"/>
            <a:ext cx="1259840" cy="7143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Industries Served:</a:t>
            </a:r>
            <a:endParaRPr lang="en-US" altLang="en-US" sz="600" b="1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br>
              <a:rPr lang="en-US" altLang="en-US" sz="500">
                <a:latin typeface="Bahnschrift" panose="020B0502040204020203" charset="0"/>
                <a:cs typeface="Bahnschrift" panose="020B0502040204020203" charset="0"/>
              </a:rPr>
            </a:b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◦ Finance &amp; FinTech      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Healthcare &amp; Life Sciences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Legal &amp; Professional Services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Retail &amp; E-commerce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Manufacturing &amp; Enterprise Operations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602105" y="803910"/>
            <a:ext cx="1466850" cy="777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Core Expertise:</a:t>
            </a:r>
            <a:endParaRPr lang="en-US" altLang="en-US" sz="600" b="1">
              <a:latin typeface="Bahnschrift" panose="020B0502040204020203" charset="0"/>
              <a:cs typeface="Bahnschrift" panose="020B0502040204020203" charset="0"/>
            </a:endParaRPr>
          </a:p>
          <a:p>
            <a:endParaRPr lang="en-US" altLang="en-US" sz="300" b="1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Artificial Intelligence &amp; Machine Learning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10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Large Language Models (LLMs) &amp; AI Agents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10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Data Engineering &amp; Analytics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US" altLang="en-US" sz="100">
              <a:latin typeface="Bahnschrift" panose="020B0502040204020203" charset="0"/>
              <a:cs typeface="Bahnschrift" panose="020B0502040204020203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en-US" sz="45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450">
                <a:latin typeface="Bahnschrift" panose="020B0502040204020203" charset="0"/>
                <a:cs typeface="Bahnschrift" panose="020B0502040204020203" charset="0"/>
              </a:rPr>
              <a:t>Cloud &amp; Enterprise AI Architecture</a:t>
            </a:r>
            <a:endParaRPr lang="en-US" altLang="en-US" sz="450">
              <a:latin typeface="Bahnschrift" panose="020B0502040204020203" charset="0"/>
              <a:cs typeface="Bahnschrift" panose="020B0502040204020203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b="1">
                <a:latin typeface="Bahnschrift" panose="020B0502040204020203" charset="0"/>
                <a:cs typeface="Bahnschrift" panose="020B0502040204020203" charset="0"/>
              </a:rPr>
              <a:t>Domain:</a:t>
            </a:r>
            <a:r>
              <a:rPr lang="en-US">
                <a:latin typeface="Bahnschrift" panose="020B0502040204020203" charset="0"/>
                <a:cs typeface="Bahnschrift" panose="020B0502040204020203" charset="0"/>
              </a:rPr>
              <a:t> Advance Java </a:t>
            </a:r>
            <a:endParaRPr lang="en-US">
              <a:latin typeface="Bahnschrift" panose="020B0502040204020203" charset="0"/>
              <a:cs typeface="Bahnschrift" panose="020B0502040204020203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20028" y="486833"/>
            <a:ext cx="2760345" cy="1160357"/>
          </a:xfrm>
        </p:spPr>
        <p:txBody>
          <a:bodyPr/>
          <a:p>
            <a:pPr marL="0" indent="0">
              <a:buNone/>
            </a:pPr>
            <a:r>
              <a:rPr lang="en-US" b="1">
                <a:latin typeface="Bahnschrift" panose="020B0502040204020203" charset="0"/>
                <a:cs typeface="Bahnschrift" panose="020B0502040204020203" charset="0"/>
                <a:sym typeface="+mn-ea"/>
              </a:rPr>
              <a:t>Mode:</a:t>
            </a:r>
            <a:r>
              <a:rPr 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 Remote</a:t>
            </a:r>
            <a:endParaRPr lang="en-US" b="1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b="1">
                <a:latin typeface="Bahnschrift" panose="020B0502040204020203" charset="0"/>
                <a:cs typeface="Bahnschrift" panose="020B0502040204020203" charset="0"/>
              </a:rPr>
              <a:t>Internship Period:</a:t>
            </a:r>
            <a:r>
              <a:rPr lang="en-US">
                <a:latin typeface="Bahnschrift" panose="020B0502040204020203" charset="0"/>
                <a:cs typeface="Bahnschrift" panose="020B0502040204020203" charset="0"/>
              </a:rPr>
              <a:t> 18-November-2025  To  18-February-2025</a:t>
            </a:r>
            <a:endParaRPr lang="en-US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endParaRPr lang="en-US" sz="1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Bahnschrift" panose="020B0502040204020203" charset="0"/>
                <a:cs typeface="Bahnschrift" panose="020B0502040204020203" charset="0"/>
              </a:rPr>
              <a:t>Technologies Actively Working On:</a:t>
            </a:r>
            <a:br>
              <a:rPr lang="en-US">
                <a:latin typeface="Bahnschrift" panose="020B0502040204020203" charset="0"/>
                <a:cs typeface="Bahnschrift" panose="020B0502040204020203" charset="0"/>
              </a:rPr>
            </a:b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◦ Java	◦ JDBC	◦ PostgreSQL	</a:t>
            </a: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◦ React JS</a:t>
            </a:r>
            <a:endParaRPr lang="en-US" altLang="en-US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◦ JPA		</a:t>
            </a: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◦ SDLC Documentation</a:t>
            </a: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		</a:t>
            </a: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Git/GitHub 	</a:t>
            </a:r>
            <a:endParaRPr lang="en-US" altLang="en-US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◦ JSON APIs		</a:t>
            </a:r>
            <a:r>
              <a:rPr lang="en-US" altLang="en-US">
                <a:latin typeface="Bahnschrift" panose="020B0502040204020203" charset="0"/>
                <a:cs typeface="Bahnschrift" panose="020B0502040204020203" charset="0"/>
                <a:sym typeface="+mn-ea"/>
              </a:rPr>
              <a:t>◦ JWT Authentication...</a:t>
            </a:r>
            <a:endParaRPr lang="en-US" altLang="en-US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endParaRPr lang="en-US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endParaRPr lang="en-US">
              <a:latin typeface="Bahnschrift" panose="020B0502040204020203" charset="0"/>
              <a:cs typeface="Bahnschrift" panose="020B0502040204020203" charset="0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b="1">
                <a:latin typeface="Bahnschrift" panose="020B0502040204020203" charset="0"/>
                <a:cs typeface="Bahnschrift" panose="020B0502040204020203" charset="0"/>
              </a:rPr>
              <a:t>Tasks Assigned:</a:t>
            </a:r>
            <a:endParaRPr lang="en-US" b="1">
              <a:latin typeface="Bahnschrift" panose="020B0502040204020203" charset="0"/>
              <a:cs typeface="Bahnschrift" panose="020B0502040204020203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p>
            <a:pPr marL="0" indent="0">
              <a:buNone/>
            </a:pPr>
            <a:r>
              <a:rPr lang="en-US" sz="500" b="1">
                <a:latin typeface="Bahnschrift" panose="020B0502040204020203" charset="0"/>
                <a:cs typeface="Bahnschrift" panose="020B0502040204020203" charset="0"/>
              </a:rPr>
              <a:t>Week-1-Tasks: </a:t>
            </a:r>
            <a:endParaRPr lang="en-US" sz="500" b="1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U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nderstanding how to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</a:rPr>
              <a:t>create a simple database, tables, insert data, and write basic SQL queries.</a:t>
            </a:r>
            <a:endParaRPr lang="en-US" altLang="en-US" sz="500" b="1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Learn how to connect Java to PostgreSQL and perform very simple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</a:rPr>
              <a:t>CRUD operations.</a:t>
            </a:r>
            <a:endParaRPr lang="en-US" altLang="en-US" sz="500" b="1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GitHub Setup &amp; Push: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</a:rPr>
              <a:t>Version control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 and code publishing.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Understanding and implementing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Object Oriented Programming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concepts.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Creating modules like BankAccount, StudentMGMT, EmployeeMGMT, etc.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Implementing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JDBC CRUD operations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via OOPs concepts.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20345" y="165100"/>
            <a:ext cx="2760345" cy="1482090"/>
          </a:xfrm>
        </p:spPr>
        <p:txBody>
          <a:bodyPr/>
          <a:p>
            <a:pPr marL="0" indent="0">
              <a:buNone/>
            </a:pPr>
            <a:r>
              <a:rPr 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Week-2-Tasks:</a:t>
            </a:r>
            <a:endParaRPr 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Implementing Collection built-in data structures such as:</a:t>
            </a:r>
            <a:endParaRPr lang="en-US" alt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sz="500"/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ArrayList&lt;&gt;	◦ HashSet&lt;&gt;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sz="500"/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TreeSet&lt;&gt;	◦ LinkedList&lt;&gt;</a:t>
            </a:r>
            <a:r>
              <a:rPr lang="en-US" sz="500"/>
              <a:t> 	</a:t>
            </a:r>
            <a:endParaRPr lang="en-US" sz="500"/>
          </a:p>
          <a:p>
            <a:pPr marL="0" indent="0">
              <a:buNone/>
            </a:pPr>
            <a:r>
              <a:rPr lang="en-US" sz="500"/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Map&lt;&gt;		◦ HashMap&lt;&gt;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	◦ TreeMap&lt;&gt;	◦ LinkedHashMap&lt;&gt;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And implementing problems based on above Collections, such as: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sz="500"/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Browser Tab History Behavior		◦ Exam Submission Behavior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Understanding which Collection data structure is efficient for a given scenario / problem.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Implementing Interation Classes and Methods, which included concepts like:</a:t>
            </a:r>
            <a:b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</a:b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	◦ Iterator&lt;&gt;	◦ ListIterator&lt;&gt;		◦ ForEach Iterator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	◦ Fail-Fast Iteration	◦ Fail-Safe Iteration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20345" y="191770"/>
            <a:ext cx="2760345" cy="1455420"/>
          </a:xfrm>
        </p:spPr>
        <p:txBody>
          <a:bodyPr/>
          <a:p>
            <a:pPr marL="0" indent="0">
              <a:buNone/>
            </a:pPr>
            <a:r>
              <a:rPr 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Week-3-Tasks:</a:t>
            </a:r>
            <a:endParaRPr 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Understanding Types of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built-in exceptions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and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user-defined exceptions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, when are they thrown in order to ensure smooth execution of a program / software.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Creating custom user-defined exceptions such as:  </a:t>
            </a:r>
            <a:endParaRPr lang="en-US" alt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sz="500">
                <a:latin typeface="Bahnschrift" panose="020B0502040204020203" charset="0"/>
                <a:cs typeface="Bahnschrift" panose="020B0502040204020203" charset="0"/>
              </a:rPr>
              <a:t>   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InsufficientBalanceException	  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InvalidAgeException	 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InvalidLoginException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And using these exception with modules below:</a:t>
            </a:r>
            <a:b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</a:b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	◦ BankAccount		◦ RatedRMovie		◦ LogInValidation</a:t>
            </a:r>
            <a:endParaRPr lang="en-US" altLang="en-US" sz="1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Implementing File-Handling Reader Classes and Methods such as:</a:t>
            </a:r>
            <a:endParaRPr lang="en-US" alt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File		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FileReader	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BufferedReader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Implementing File-Handling Writer Classes and Methods such as:</a:t>
            </a:r>
            <a:endParaRPr lang="en-US" alt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	◦ FileWriter		◦ BufferedWriter	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And using above File-Handling concepts to implement behaviors like:  </a:t>
            </a:r>
            <a:endParaRPr lang="en-US" alt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	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Log Audit Trails	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Filtering .csv/.txt Files		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Formatting Output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77165" y="183515"/>
            <a:ext cx="2857500" cy="1463675"/>
          </a:xfrm>
        </p:spPr>
        <p:txBody>
          <a:bodyPr/>
          <a:p>
            <a:pPr marL="0" indent="0">
              <a:buNone/>
            </a:pPr>
            <a:r>
              <a:rPr 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Week-4-Tasks:</a:t>
            </a:r>
            <a:endParaRPr lang="en-US" sz="500" b="1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49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sz="490">
                <a:latin typeface="Bahnschrift" panose="020B0502040204020203" charset="0"/>
                <a:cs typeface="Bahnschrift" panose="020B0502040204020203" charset="0"/>
              </a:rPr>
              <a:t>Understanding how </a:t>
            </a:r>
            <a:r>
              <a:rPr lang="en-US" sz="490" b="1">
                <a:latin typeface="Bahnschrift" panose="020B0502040204020203" charset="0"/>
                <a:cs typeface="Bahnschrift" panose="020B0502040204020203" charset="0"/>
              </a:rPr>
              <a:t>SDLC documentation is done and implemented</a:t>
            </a:r>
            <a:r>
              <a:rPr lang="en-US" sz="490">
                <a:latin typeface="Bahnschrift" panose="020B0502040204020203" charset="0"/>
                <a:cs typeface="Bahnschrift" panose="020B0502040204020203" charset="0"/>
              </a:rPr>
              <a:t>. And creating a hypothetical project documentation for “SmartClinic 2.0” and </a:t>
            </a:r>
            <a:r>
              <a:rPr lang="en-US" sz="490" b="1">
                <a:latin typeface="Bahnschrift" panose="020B0502040204020203" charset="0"/>
                <a:cs typeface="Bahnschrift" panose="020B0502040204020203" charset="0"/>
              </a:rPr>
              <a:t>understanding concepts such as:</a:t>
            </a:r>
            <a:br>
              <a:rPr lang="en-US" sz="500" b="1">
                <a:latin typeface="Bahnschrift" panose="020B0502040204020203" charset="0"/>
                <a:cs typeface="Bahnschrift" panose="020B0502040204020203" charset="0"/>
              </a:rPr>
            </a:br>
            <a:r>
              <a:rPr lang="en-US" sz="500">
                <a:latin typeface="Bahnschrift" panose="020B0502040204020203" charset="0"/>
                <a:cs typeface="Bahnschrift" panose="020B0502040204020203" charset="0"/>
              </a:rPr>
              <a:t>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Feasibility Study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Software Requirement Specification (SRS)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System Study	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Time &amp; Resource Estimation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Workflow Diagrams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</a:rPr>
              <a:t>Functional Requirements (FR)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Attempt to create a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Real Industry-Level documentation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for a project called “School Management System” in which assignments, exam time-tables, notifications, attendence, etc. will be done and digitally recorded.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Documentation included were:</a:t>
            </a:r>
            <a:b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</a:b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	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Business Requirement Document (BRD)	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Requirement Documentation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Software Requirements Specification (SRS)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Risk &amp; Mitigation Analysis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ER Diagram	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Workflow Diagram	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UI Wireframes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◦ And focusing on creating detailed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Module Based </a:t>
            </a:r>
            <a:r>
              <a:rPr lang="en-US" altLang="en-US" sz="500" b="1">
                <a:latin typeface="Bahnschrift" panose="020B0502040204020203" charset="0"/>
                <a:cs typeface="Bahnschrift" panose="020B0502040204020203" charset="0"/>
                <a:sym typeface="+mn-ea"/>
              </a:rPr>
              <a:t>Functional Requirements (FR) Documentation</a:t>
            </a:r>
            <a:r>
              <a:rPr lang="en-US" altLang="en-US" sz="500">
                <a:latin typeface="Bahnschrift" panose="020B0502040204020203" charset="0"/>
                <a:cs typeface="Bahnschrift" panose="020B0502040204020203" charset="0"/>
                <a:sym typeface="+mn-ea"/>
              </a:rPr>
              <a:t> which included describing module specific users, inputs / outputs of that module, and by which user is the module most used by.</a:t>
            </a:r>
            <a:endParaRPr lang="en-US" altLang="en-US" sz="500">
              <a:latin typeface="Bahnschrift" panose="020B0502040204020203" charset="0"/>
              <a:cs typeface="Bahnschrift" panose="020B0502040204020203" charset="0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93980" y="76200"/>
            <a:ext cx="3029585" cy="1661160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Week-5-Tasks:</a:t>
            </a:r>
            <a:endParaRPr lang="en-US" altLang="en-US" sz="600" b="1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Build a basic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REST API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 using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Spring Boot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 that performs CRUD operations on a database table.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Created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Entity (Class)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,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 JPA Repository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,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Service Layer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 and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Rest APIs Controller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 with standard methods such as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POST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,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GET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,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PUT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,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</a:rPr>
              <a:t>DELETE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</a:rPr>
              <a:t>. Used Spring Boot Annotations accordingly.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Database Configured and APIs endpoints testing using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POSTMAN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.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Advance JPA DB schemas fetching using custom queries.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Pagination and Sorting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 of the data being fetched using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Pageable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 interface.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Implementation of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 Liquibase (Github of Databases)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, tracking every DB schemas change done efficiently and migrating the DB changes in the next deployment of the application.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Unit Testing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 Service Layer (Business Logic) using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Mockito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 and Controller Layer (Rest APIs) using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@WebMvcTest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Spring Boot test annotation. 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  <a:sym typeface="+mn-ea"/>
            </a:endParaRPr>
          </a:p>
          <a:p>
            <a:pPr marL="0" indent="0">
              <a:buNone/>
            </a:pP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◦ Integration Testing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 of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Repository Layer (DB Fetching) and Liquibase using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@DataJpaTest 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annotation which was done in </a:t>
            </a:r>
            <a:r>
              <a:rPr lang="en-US" altLang="en-US" sz="600" b="1">
                <a:latin typeface="Bahnschrift" panose="020B0502040204020203" charset="0"/>
                <a:cs typeface="Bahnschrift" panose="020B0502040204020203" charset="0"/>
                <a:sym typeface="+mn-ea"/>
              </a:rPr>
              <a:t>TestContainers (Docker)</a:t>
            </a:r>
            <a:r>
              <a:rPr lang="en-US" altLang="en-US" sz="600">
                <a:latin typeface="Bahnschrift" panose="020B0502040204020203" charset="0"/>
                <a:cs typeface="Bahnschrift" panose="020B0502040204020203" charset="0"/>
                <a:sym typeface="+mn-ea"/>
              </a:rPr>
              <a:t>.</a:t>
            </a:r>
            <a:endParaRPr lang="en-US" altLang="en-US" sz="600">
              <a:latin typeface="Bahnschrift" panose="020B0502040204020203" charset="0"/>
              <a:cs typeface="Bahnschrift" panose="020B0502040204020203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l="55883" t="33452" r="15262" b="13956"/>
          <a:stretch>
            <a:fillRect/>
          </a:stretch>
        </p:blipFill>
        <p:spPr>
          <a:xfrm rot="16200000">
            <a:off x="692946" y="-678657"/>
            <a:ext cx="1814511" cy="3200402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2255" y="205105"/>
            <a:ext cx="2713990" cy="4476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160" b="1">
                <a:latin typeface="Copperplate Gothic Light" panose="020E0507020206020404" charset="0"/>
                <a:cs typeface="Copperplate Gothic Light" panose="020E0507020206020404" charset="0"/>
                <a:sym typeface="+mn-ea"/>
              </a:rPr>
              <a:t>THANK </a:t>
            </a:r>
            <a:r>
              <a:rPr lang="en-US" sz="1160" b="1">
                <a:latin typeface="Copperplate Gothic Light" panose="020E0507020206020404" charset="0"/>
                <a:cs typeface="Copperplate Gothic Light" panose="020E0507020206020404" charset="0"/>
                <a:sym typeface="+mn-ea"/>
              </a:rPr>
              <a:t>YOU FOR YOUR TIME</a:t>
            </a:r>
            <a:endParaRPr lang="en-US" sz="1160" b="1">
              <a:latin typeface="Copperplate Gothic Light" panose="020E0507020206020404" charset="0"/>
              <a:cs typeface="Copperplate Gothic Light" panose="020E0507020206020404" charset="0"/>
            </a:endParaRPr>
          </a:p>
          <a:p>
            <a:endParaRPr lang="en-US" sz="116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4775</Words>
  <Application>WPS Presentation</Application>
  <PresentationFormat>自定义</PresentationFormat>
  <Paragraphs>102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SimSun</vt:lpstr>
      <vt:lpstr>Wingdings</vt:lpstr>
      <vt:lpstr>Bahnschrift</vt:lpstr>
      <vt:lpstr>Roboto Bk</vt:lpstr>
      <vt:lpstr>Segoe Print</vt:lpstr>
      <vt:lpstr>Copperplate Gothic Light</vt:lpstr>
      <vt:lpstr>Microsoft YaHei</vt:lpstr>
      <vt:lpstr>Arial Unicode MS</vt:lpstr>
      <vt:lpstr>Calibri Light</vt:lpstr>
      <vt:lpstr>Calibri</vt:lpstr>
      <vt:lpstr>Office Theme</vt:lpstr>
      <vt:lpstr>PowerPoint 演示文稿</vt:lpstr>
      <vt:lpstr>About DataInn Technologies:</vt:lpstr>
      <vt:lpstr>Domain: Advance Java </vt:lpstr>
      <vt:lpstr>Tasks Assigned: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Card</dc:title>
  <dc:creator>copyright@2019—dreamer; ABATARA1</dc:creator>
  <cp:lastModifiedBy>A. B.P.</cp:lastModifiedBy>
  <cp:revision>44</cp:revision>
  <dcterms:created xsi:type="dcterms:W3CDTF">2016-11-30T16:23:00Z</dcterms:created>
  <dcterms:modified xsi:type="dcterms:W3CDTF">2026-01-02T06:08:32Z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E99FAA5FF42E462C9FCB681E163F137E_13</vt:lpwstr>
  </property>
  <property fmtid="{D5CDD505-2E9C-101B-9397-08002B2CF9AE}" pid="3" name="KSOProductBuildVer">
    <vt:lpwstr>1033-12.2.0.23196</vt:lpwstr>
  </property>
</Properties>
</file>