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5" r:id="rId11"/>
  </p:sldIdLst>
  <p:sldSz cx="32004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141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7" autoAdjust="0"/>
    <p:restoredTop sz="94280" autoAdjust="0"/>
  </p:normalViewPr>
  <p:slideViewPr>
    <p:cSldViewPr snapToGrid="0">
      <p:cViewPr varScale="1">
        <p:scale>
          <a:sx n="284" d="100"/>
          <a:sy n="284" d="100"/>
        </p:scale>
        <p:origin x="1133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8DC8F-CB6F-4533-A8E2-F07682B5833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2AB5F-591D-4B56-9091-1F8F97E4511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99297"/>
            <a:ext cx="2400300" cy="636693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960543"/>
            <a:ext cx="2400300" cy="441537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0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455930"/>
            <a:ext cx="2760345" cy="760730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223857"/>
            <a:ext cx="2760345" cy="400050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86833"/>
            <a:ext cx="1360170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86833"/>
            <a:ext cx="1360170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97367"/>
            <a:ext cx="276034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448310"/>
            <a:ext cx="1353919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0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668020"/>
            <a:ext cx="1353919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448310"/>
            <a:ext cx="1360587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0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668020"/>
            <a:ext cx="1360587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263314"/>
            <a:ext cx="1620203" cy="1299633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70"/>
            </a:lvl2pPr>
            <a:lvl3pPr marL="240030" indent="0">
              <a:buNone/>
              <a:defRPr sz="315"/>
            </a:lvl3pPr>
            <a:lvl4pPr marL="360045" indent="0">
              <a:buNone/>
              <a:defRPr sz="265"/>
            </a:lvl4pPr>
            <a:lvl5pPr marL="480060" indent="0">
              <a:buNone/>
              <a:defRPr sz="265"/>
            </a:lvl5pPr>
            <a:lvl6pPr marL="600075" indent="0">
              <a:buNone/>
              <a:defRPr sz="265"/>
            </a:lvl6pPr>
            <a:lvl7pPr marL="720090" indent="0">
              <a:buNone/>
              <a:defRPr sz="265"/>
            </a:lvl7pPr>
            <a:lvl8pPr marL="840105" indent="0">
              <a:buNone/>
              <a:defRPr sz="265"/>
            </a:lvl8pPr>
            <a:lvl9pPr marL="960120" indent="0">
              <a:buNone/>
              <a:defRPr sz="2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263314"/>
            <a:ext cx="1620203" cy="1299633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70"/>
            </a:lvl2pPr>
            <a:lvl3pPr marL="240030" indent="0">
              <a:buNone/>
              <a:defRPr sz="315"/>
            </a:lvl3pPr>
            <a:lvl4pPr marL="360045" indent="0">
              <a:buNone/>
              <a:defRPr sz="265"/>
            </a:lvl4pPr>
            <a:lvl5pPr marL="480060" indent="0">
              <a:buNone/>
              <a:defRPr sz="265"/>
            </a:lvl5pPr>
            <a:lvl6pPr marL="600075" indent="0">
              <a:buNone/>
              <a:defRPr sz="265"/>
            </a:lvl6pPr>
            <a:lvl7pPr marL="720090" indent="0">
              <a:buNone/>
              <a:defRPr sz="265"/>
            </a:lvl7pPr>
            <a:lvl8pPr marL="840105" indent="0">
              <a:buNone/>
              <a:defRPr sz="265"/>
            </a:lvl8pPr>
            <a:lvl9pPr marL="960120" indent="0">
              <a:buNone/>
              <a:defRPr sz="2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7367"/>
            <a:ext cx="690086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7367"/>
            <a:ext cx="2030254" cy="154982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97367"/>
            <a:ext cx="276034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486833"/>
            <a:ext cx="276034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695027"/>
            <a:ext cx="1080135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325" indent="-60325" algn="l" defTabSz="240030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34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35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37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4pPr>
      <a:lvl5pPr marL="54038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5pPr>
      <a:lvl6pPr marL="66040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6pPr>
      <a:lvl7pPr marL="78041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7pPr>
      <a:lvl8pPr marL="90043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8pPr>
      <a:lvl9pPr marL="102044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43361" t="42898" r="5342" b="25328"/>
          <a:stretch>
            <a:fillRect/>
          </a:stretch>
        </p:blipFill>
        <p:spPr>
          <a:xfrm>
            <a:off x="0" y="320"/>
            <a:ext cx="3200400" cy="182848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934210" y="914400"/>
            <a:ext cx="1125855" cy="4883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500" b="1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Name:</a:t>
            </a:r>
            <a:r>
              <a:rPr lang="en-US" sz="500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  </a:t>
            </a:r>
            <a:r>
              <a:rPr lang="en-US" sz="500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Yunus Aslam Bagewadi</a:t>
            </a:r>
            <a:endParaRPr lang="en-US" sz="500" dirty="0">
              <a:solidFill>
                <a:srgbClr val="363537"/>
              </a:solidFill>
              <a:latin typeface="Bahnschrift" panose="020B0502040204020203" charset="0"/>
              <a:ea typeface="Roboto Bk" pitchFamily="2" charset="0"/>
              <a:cs typeface="Bahnschrift" panose="020B0502040204020203" charset="0"/>
            </a:endParaRPr>
          </a:p>
          <a:p>
            <a:r>
              <a:rPr lang="en-US" sz="500" b="1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Class:  </a:t>
            </a:r>
            <a:r>
              <a:rPr lang="en-US" sz="500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T.Y.B.Sc.Computer Science</a:t>
            </a:r>
            <a:endParaRPr lang="en-US" sz="500" dirty="0">
              <a:solidFill>
                <a:srgbClr val="363537"/>
              </a:solidFill>
              <a:latin typeface="Bahnschrift" panose="020B0502040204020203" charset="0"/>
              <a:ea typeface="Roboto Bk" pitchFamily="2" charset="0"/>
              <a:cs typeface="Bahnschrift" panose="020B0502040204020203" charset="0"/>
            </a:endParaRPr>
          </a:p>
          <a:p>
            <a:r>
              <a:rPr lang="en-US" sz="500" b="1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Div:</a:t>
            </a:r>
            <a:r>
              <a:rPr lang="en-US" sz="500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  </a:t>
            </a:r>
            <a:r>
              <a:rPr lang="en-US" sz="500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A</a:t>
            </a:r>
            <a:endParaRPr lang="en-US" sz="500" dirty="0">
              <a:solidFill>
                <a:srgbClr val="363537"/>
              </a:solidFill>
              <a:latin typeface="Bahnschrift" panose="020B0502040204020203" charset="0"/>
              <a:ea typeface="Roboto Bk" pitchFamily="2" charset="0"/>
              <a:cs typeface="Bahnschrift" panose="020B0502040204020203" charset="0"/>
            </a:endParaRPr>
          </a:p>
          <a:p>
            <a:r>
              <a:rPr lang="en-US" sz="500" b="1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Roll  No.:</a:t>
            </a:r>
            <a:r>
              <a:rPr lang="en-US" sz="500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  </a:t>
            </a:r>
            <a:r>
              <a:rPr lang="en-US" sz="500" dirty="0">
                <a:solidFill>
                  <a:srgbClr val="363537"/>
                </a:solidFill>
                <a:latin typeface="Bahnschrift" panose="020B0502040204020203" charset="0"/>
                <a:ea typeface="Roboto Bk" pitchFamily="2" charset="0"/>
                <a:cs typeface="Bahnschrift" panose="020B0502040204020203" charset="0"/>
              </a:rPr>
              <a:t>210</a:t>
            </a:r>
            <a:endParaRPr lang="en-US" sz="500" dirty="0">
              <a:solidFill>
                <a:srgbClr val="363537"/>
              </a:solidFill>
              <a:latin typeface="Bahnschrift" panose="020B0502040204020203" charset="0"/>
              <a:ea typeface="Roboto Bk" pitchFamily="2" charset="0"/>
              <a:cs typeface="Bahnschrift" panose="020B0502040204020203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989622" y="644564"/>
            <a:ext cx="106426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sz="500" spc="79" dirty="0">
                <a:solidFill>
                  <a:srgbClr val="363537"/>
                </a:solidFill>
                <a:latin typeface="Bahnschrift" panose="020B0502040204020203" charset="0"/>
                <a:cs typeface="Bahnschrift" panose="020B0502040204020203" charset="0"/>
              </a:rPr>
              <a:t>Internship Provided By:</a:t>
            </a:r>
            <a:endParaRPr lang="en-US" sz="500" spc="79" dirty="0">
              <a:solidFill>
                <a:srgbClr val="363537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sz="500" b="1" spc="79" dirty="0">
                <a:solidFill>
                  <a:srgbClr val="363537"/>
                </a:solidFill>
                <a:latin typeface="Bahnschrift" panose="020B0502040204020203" charset="0"/>
                <a:cs typeface="Bahnschrift" panose="020B0502040204020203" charset="0"/>
              </a:rPr>
              <a:t>DataInn Technologies</a:t>
            </a:r>
            <a:endParaRPr lang="en-US" sz="500" b="1" spc="79" dirty="0">
              <a:solidFill>
                <a:srgbClr val="363537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5" name="Picture 4" descr="datainn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65" y="278130"/>
            <a:ext cx="677545" cy="226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345" y="97155"/>
            <a:ext cx="2760345" cy="291465"/>
          </a:xfrm>
        </p:spPr>
        <p:txBody>
          <a:bodyPr/>
          <a:p>
            <a:r>
              <a:rPr lang="en-US" sz="1000"/>
              <a:t>About </a:t>
            </a:r>
            <a:r>
              <a:rPr lang="en-US" sz="1000" b="1" spc="79" dirty="0">
                <a:solidFill>
                  <a:srgbClr val="363537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DataInn Technologies:</a:t>
            </a:r>
            <a:endParaRPr lang="en-US" sz="10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0345" y="361315"/>
            <a:ext cx="2760345" cy="426720"/>
          </a:xfrm>
        </p:spPr>
        <p:txBody>
          <a:bodyPr anchor="t" anchorCtr="0">
            <a:normAutofit lnSpcReduction="10000"/>
          </a:bodyPr>
          <a:p>
            <a:pPr marL="0" indent="0"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DataInn  Technologies  is  an  AI-focused  IT  consulting  firm  that  helps  organizations  design,  build,  and  scale  production-ready  AI  solutions.  The  company  specializes  in  AI  agents,  data  platforms,  and  decision  intelligence,  enabling  businesses  to  move  from  experimentation  to  real-world  impact.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20345" y="803910"/>
            <a:ext cx="1259840" cy="714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</a:rPr>
              <a:t>Industries Served:</a:t>
            </a:r>
            <a:endParaRPr lang="en-US" altLang="en-US" sz="600" b="1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US" sz="500">
                <a:latin typeface="Bahnschrift" panose="020B0502040204020203" charset="0"/>
                <a:cs typeface="Bahnschrift" panose="020B0502040204020203" charset="0"/>
              </a:rPr>
            </a:b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◦ Finance &amp; FinTech      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Healthcare &amp; Life Sciences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Legal &amp; Professional Services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Retail &amp; E-commerce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Manufacturing &amp; Enterprise Operations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602105" y="803910"/>
            <a:ext cx="1466850" cy="777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</a:rPr>
              <a:t>Core Expertise:</a:t>
            </a:r>
            <a:endParaRPr lang="en-US" altLang="en-US" sz="600" b="1"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n-US" sz="300" b="1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Artificial Intelligence &amp; Machine Learning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Large Language Models (LLMs) &amp; AI Agents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Data Engineering &amp; Analytics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">
              <a:latin typeface="Bahnschrift" panose="020B0502040204020203" charset="0"/>
              <a:cs typeface="Bahnschrift" panose="020B0502040204020203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450">
                <a:latin typeface="Bahnschrift" panose="020B0502040204020203" charset="0"/>
                <a:cs typeface="Bahnschrift" panose="020B0502040204020203" charset="0"/>
              </a:rPr>
              <a:t>Cloud &amp; Enterprise AI Architecture</a:t>
            </a:r>
            <a:endParaRPr lang="en-US" altLang="en-US" sz="450"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Bahnschrift" panose="020B0502040204020203" charset="0"/>
                <a:cs typeface="Bahnschrift" panose="020B0502040204020203" charset="0"/>
              </a:rPr>
              <a:t>Domain:</a:t>
            </a:r>
            <a:r>
              <a:rPr lang="en-US">
                <a:latin typeface="Bahnschrift" panose="020B0502040204020203" charset="0"/>
                <a:cs typeface="Bahnschrift" panose="020B0502040204020203" charset="0"/>
              </a:rPr>
              <a:t> Advance Java </a:t>
            </a:r>
            <a:endParaRPr lang="en-US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0028" y="486833"/>
            <a:ext cx="2760345" cy="1160357"/>
          </a:xfrm>
        </p:spPr>
        <p:txBody>
          <a:bodyPr/>
          <a:p>
            <a:pPr marL="0" indent="0">
              <a:buNone/>
            </a:pPr>
            <a:r>
              <a:rPr lang="en-US" b="1">
                <a:latin typeface="Bahnschrift" panose="020B0502040204020203" charset="0"/>
                <a:cs typeface="Bahnschrift" panose="020B0502040204020203" charset="0"/>
                <a:sym typeface="+mn-ea"/>
              </a:rPr>
              <a:t>Mode:</a:t>
            </a:r>
            <a:r>
              <a:rPr 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 Remote</a:t>
            </a:r>
            <a:endParaRPr lang="en-US" b="1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b="1">
                <a:latin typeface="Bahnschrift" panose="020B0502040204020203" charset="0"/>
                <a:cs typeface="Bahnschrift" panose="020B0502040204020203" charset="0"/>
              </a:rPr>
              <a:t>Internship Period:</a:t>
            </a:r>
            <a:r>
              <a:rPr lang="en-US">
                <a:latin typeface="Bahnschrift" panose="020B0502040204020203" charset="0"/>
                <a:cs typeface="Bahnschrift" panose="020B0502040204020203" charset="0"/>
              </a:rPr>
              <a:t> 18-November-2025  To  18-February-2025</a:t>
            </a:r>
            <a:endParaRPr lang="en-US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endParaRPr lang="en-US" sz="1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>
                <a:latin typeface="Bahnschrift" panose="020B0502040204020203" charset="0"/>
                <a:cs typeface="Bahnschrift" panose="020B0502040204020203" charset="0"/>
              </a:rPr>
              <a:t>Technologies Actively Working On:</a:t>
            </a:r>
            <a:br>
              <a:rPr lang="en-US">
                <a:latin typeface="Bahnschrift" panose="020B0502040204020203" charset="0"/>
                <a:cs typeface="Bahnschrift" panose="020B0502040204020203" charset="0"/>
              </a:rPr>
            </a:b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◦ Java	◦ JDBC	◦ PostgreSQL	</a:t>
            </a: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◦ React JS</a:t>
            </a:r>
            <a:endParaRPr lang="en-US" altLang="en-US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◦ JPA		</a:t>
            </a: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◦ SDLC Documentation</a:t>
            </a: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		</a:t>
            </a: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Git/GitHub 	</a:t>
            </a:r>
            <a:endParaRPr lang="en-US" altLang="en-US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◦ JSON APIs		</a:t>
            </a:r>
            <a:r>
              <a:rPr lang="en-US" altLang="en-US">
                <a:latin typeface="Bahnschrift" panose="020B0502040204020203" charset="0"/>
                <a:cs typeface="Bahnschrift" panose="020B0502040204020203" charset="0"/>
                <a:sym typeface="+mn-ea"/>
              </a:rPr>
              <a:t>◦ JWT Authentication...</a:t>
            </a:r>
            <a:endParaRPr lang="en-US" altLang="en-US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endParaRPr lang="en-US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endParaRPr lang="en-US"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Bahnschrift" panose="020B0502040204020203" charset="0"/>
                <a:cs typeface="Bahnschrift" panose="020B0502040204020203" charset="0"/>
              </a:rPr>
              <a:t>Tasks Assigned:</a:t>
            </a:r>
            <a:endParaRPr lang="en-US" b="1"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sz="500" b="1">
                <a:latin typeface="Bahnschrift" panose="020B0502040204020203" charset="0"/>
                <a:cs typeface="Bahnschrift" panose="020B0502040204020203" charset="0"/>
              </a:rPr>
              <a:t>Week-1-Tasks: </a:t>
            </a:r>
            <a:endParaRPr lang="en-US" sz="500" b="1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U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nderstanding how to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</a:rPr>
              <a:t>create a simple database, tables, insert data, and write basic SQL queries.</a:t>
            </a:r>
            <a:endParaRPr lang="en-US" altLang="en-US" sz="500" b="1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Learn how to connect Java to PostgreSQL and perform very simple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</a:rPr>
              <a:t>CRUD operations.</a:t>
            </a:r>
            <a:endParaRPr lang="en-US" altLang="en-US" sz="500" b="1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GitHub Setup &amp; Push: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</a:rPr>
              <a:t>Version control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 and code publishing.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endParaRPr lang="en-US" altLang="en-US" sz="5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Understanding and implementing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Object Oriented Programming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concepts.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Creating modules like BankAccount, StudentMGMT, EmployeeMGMT, etc.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Implementing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JDBC CRUD operations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via OOPs concepts.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0345" y="165100"/>
            <a:ext cx="2760345" cy="1482090"/>
          </a:xfrm>
        </p:spPr>
        <p:txBody>
          <a:bodyPr/>
          <a:p>
            <a:pPr marL="0" indent="0">
              <a:buNone/>
            </a:pPr>
            <a:r>
              <a:rPr 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Week-2-Tasks:</a:t>
            </a:r>
            <a:endParaRPr lang="en-US" sz="5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Implementing Collection built-in data structures such as:</a:t>
            </a:r>
            <a:endParaRPr lang="en-US" altLang="en-US" sz="5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sz="500"/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ArrayList&lt;&gt;	◦ HashSet&lt;&gt;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sz="500"/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TreeSet&lt;&gt;	◦ LinkedList&lt;&gt;</a:t>
            </a:r>
            <a:r>
              <a:rPr lang="en-US" sz="500"/>
              <a:t> 	</a:t>
            </a:r>
            <a:endParaRPr lang="en-US" sz="500"/>
          </a:p>
          <a:p>
            <a:pPr marL="0" indent="0">
              <a:buNone/>
            </a:pPr>
            <a:r>
              <a:rPr lang="en-US" sz="500"/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Map&lt;&gt;		◦ HashMap&lt;&gt;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	◦ TreeMap&lt;&gt;	◦ LinkedHashMap&lt;&gt;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And implementing problems based on above Collections, such as: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sz="500"/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Browser Tab History Behavior		◦ Exam Submission Behavior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Understanding which Collection data structure is efficient for a given scenario / problem.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Implementing Interation Classes and Methods, which included concepts like:</a:t>
            </a:r>
            <a:b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</a:b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	◦ Iterator&lt;&gt;	◦ ListIterator&lt;&gt;		◦ ForEach Iterator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	◦ Fail-Fast Iteration	◦ Fail-Safe Iteration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0345" y="191770"/>
            <a:ext cx="2760345" cy="1455420"/>
          </a:xfrm>
        </p:spPr>
        <p:txBody>
          <a:bodyPr/>
          <a:p>
            <a:pPr marL="0" indent="0">
              <a:buNone/>
            </a:pPr>
            <a:r>
              <a:rPr 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Week-3-Tasks:</a:t>
            </a:r>
            <a:endParaRPr lang="en-US" sz="5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Understanding Types of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built-in exceptions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and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user-defined exceptions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, when are they thrown in order to ensure smooth execution of a program / software.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Creating custom user-defined exceptions such as:  </a:t>
            </a:r>
            <a:endParaRPr lang="en-US" altLang="en-US" sz="5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sz="500">
                <a:latin typeface="Bahnschrift" panose="020B0502040204020203" charset="0"/>
                <a:cs typeface="Bahnschrift" panose="020B0502040204020203" charset="0"/>
              </a:rPr>
              <a:t>   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InsufficientBalanceException	  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InvalidAgeException	 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InvalidLoginException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And using these exception with modules below:</a:t>
            </a:r>
            <a:b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</a:b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	◦ BankAccount		◦ RatedRMovie		◦ LogInValidation</a:t>
            </a:r>
            <a:endParaRPr lang="en-US" altLang="en-US" sz="1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Implementing File-Handling Reader Classes and Methods such as:</a:t>
            </a:r>
            <a:endParaRPr lang="en-US" altLang="en-US" sz="5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File		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FileReader	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BufferedReader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Implementing File-Handling Writer Classes and Methods such as:</a:t>
            </a:r>
            <a:endParaRPr lang="en-US" altLang="en-US" sz="5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	◦ FileWriter		◦ BufferedWriter	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And using above File-Handling concepts to implement behaviors like:  </a:t>
            </a:r>
            <a:endParaRPr lang="en-US" altLang="en-US" sz="5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	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Log Audit Trails	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Filtering .csv/.txt Files		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Formatting Output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77165" y="183515"/>
            <a:ext cx="2857500" cy="1463675"/>
          </a:xfrm>
        </p:spPr>
        <p:txBody>
          <a:bodyPr/>
          <a:p>
            <a:pPr marL="0" indent="0">
              <a:buNone/>
            </a:pPr>
            <a:r>
              <a:rPr 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Week-4-Tasks:</a:t>
            </a:r>
            <a:endParaRPr lang="en-US" sz="5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49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sz="490">
                <a:latin typeface="Bahnschrift" panose="020B0502040204020203" charset="0"/>
                <a:cs typeface="Bahnschrift" panose="020B0502040204020203" charset="0"/>
              </a:rPr>
              <a:t>Understanding how </a:t>
            </a:r>
            <a:r>
              <a:rPr lang="en-US" sz="490" b="1">
                <a:latin typeface="Bahnschrift" panose="020B0502040204020203" charset="0"/>
                <a:cs typeface="Bahnschrift" panose="020B0502040204020203" charset="0"/>
              </a:rPr>
              <a:t>SDLC documentation is done and implemented</a:t>
            </a:r>
            <a:r>
              <a:rPr lang="en-US" sz="490">
                <a:latin typeface="Bahnschrift" panose="020B0502040204020203" charset="0"/>
                <a:cs typeface="Bahnschrift" panose="020B0502040204020203" charset="0"/>
              </a:rPr>
              <a:t>. And creating a hypothetical project documentation for “SmartClinic 2.0” and </a:t>
            </a:r>
            <a:r>
              <a:rPr lang="en-US" sz="490" b="1">
                <a:latin typeface="Bahnschrift" panose="020B0502040204020203" charset="0"/>
                <a:cs typeface="Bahnschrift" panose="020B0502040204020203" charset="0"/>
              </a:rPr>
              <a:t>understanding concepts such as:</a:t>
            </a:r>
            <a:br>
              <a:rPr lang="en-US" sz="500" b="1">
                <a:latin typeface="Bahnschrift" panose="020B0502040204020203" charset="0"/>
                <a:cs typeface="Bahnschrift" panose="020B0502040204020203" charset="0"/>
              </a:rPr>
            </a:br>
            <a:r>
              <a:rPr lang="en-US" sz="500">
                <a:latin typeface="Bahnschrift" panose="020B0502040204020203" charset="0"/>
                <a:cs typeface="Bahnschrift" panose="020B0502040204020203" charset="0"/>
              </a:rPr>
              <a:t>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Feasibility Study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Software Requirement Specification (SRS)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System Study	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Time &amp; Resource Estimation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Workflow Diagrams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</a:rPr>
              <a:t>Functional Requirements (FR)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Attempt to create a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Real Industry-Level documentation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for a project called “School Management System” in which assignments, exam time-tables, notifications, attendence, etc. will be done and digitally recorded.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Documentation included were:</a:t>
            </a:r>
            <a:b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</a:b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	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Business Requirement Document (BRD)	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Requirement Documentation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Software Requirements Specification (SRS)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Risk &amp; Mitigation Analysis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ER Diagram	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Workflow Diagram	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UI Wireframes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◦ And focusing on creating detailed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Module Based </a:t>
            </a: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Functional Requirements (FR) Documentation</a:t>
            </a:r>
            <a:r>
              <a:rPr lang="en-US" altLang="en-US" sz="500">
                <a:latin typeface="Bahnschrift" panose="020B0502040204020203" charset="0"/>
                <a:cs typeface="Bahnschrift" panose="020B0502040204020203" charset="0"/>
                <a:sym typeface="+mn-ea"/>
              </a:rPr>
              <a:t> which included describing module specific users, inputs / outputs of that module, and by which user is the module most used by.</a:t>
            </a:r>
            <a:endParaRPr lang="en-US" altLang="en-US" sz="500"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0345" y="191770"/>
            <a:ext cx="2760345" cy="1455420"/>
          </a:xfrm>
        </p:spPr>
        <p:txBody>
          <a:bodyPr/>
          <a:p>
            <a:pPr marL="0" indent="0">
              <a:buNone/>
            </a:pPr>
            <a:r>
              <a:rPr lang="en-US" sz="600" b="1">
                <a:latin typeface="Bahnschrift" panose="020B0502040204020203" charset="0"/>
                <a:cs typeface="Bahnschrift" panose="020B0502040204020203" charset="0"/>
                <a:sym typeface="+mn-ea"/>
              </a:rPr>
              <a:t>Week-5-Tasks (Ongoing):</a:t>
            </a:r>
            <a:endParaRPr lang="en-US" sz="600" b="1"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buNone/>
            </a:pP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</a:rPr>
              <a:t>Objective: </a:t>
            </a:r>
            <a:endParaRPr lang="en-US" altLang="en-US" sz="600" b="1"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600">
                <a:latin typeface="Bahnschrift" panose="020B0502040204020203" charset="0"/>
                <a:cs typeface="Bahnschrift" panose="020B0502040204020203" charset="0"/>
              </a:rPr>
              <a:t>Build a basic </a:t>
            </a: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</a:rPr>
              <a:t>REST API</a:t>
            </a:r>
            <a:r>
              <a:rPr lang="en-US" altLang="en-US" sz="600">
                <a:latin typeface="Bahnschrift" panose="020B0502040204020203" charset="0"/>
                <a:cs typeface="Bahnschrift" panose="020B0502040204020203" charset="0"/>
              </a:rPr>
              <a:t> using </a:t>
            </a: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</a:rPr>
              <a:t>Spring Boot</a:t>
            </a:r>
            <a:r>
              <a:rPr lang="en-US" altLang="en-US" sz="600">
                <a:latin typeface="Bahnschrift" panose="020B0502040204020203" charset="0"/>
                <a:cs typeface="Bahnschrift" panose="020B0502040204020203" charset="0"/>
              </a:rPr>
              <a:t> that performs CRUD operations on a database table.</a:t>
            </a:r>
            <a:endParaRPr lang="en-US" altLang="en-US" sz="600"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55883" t="33452" r="15262" b="13956"/>
          <a:stretch>
            <a:fillRect/>
          </a:stretch>
        </p:blipFill>
        <p:spPr>
          <a:xfrm rot="16200000">
            <a:off x="692946" y="-678657"/>
            <a:ext cx="1814511" cy="3200402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62255" y="205105"/>
            <a:ext cx="2713990" cy="447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16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THANK </a:t>
            </a:r>
            <a:r>
              <a:rPr lang="en-US" sz="116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YOU FOR YOUR TIME</a:t>
            </a:r>
            <a:endParaRPr lang="en-US" sz="116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endParaRPr lang="en-US" sz="11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3970</Words>
  <Application>WPS Presentation</Application>
  <PresentationFormat>自定义</PresentationFormat>
  <Paragraphs>96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Aharoni</vt:lpstr>
      <vt:lpstr>Yu Gothic UI Semibold</vt:lpstr>
      <vt:lpstr>Roboto Bk</vt:lpstr>
      <vt:lpstr>Roboto</vt:lpstr>
      <vt:lpstr>AlternateGothic2 BT</vt:lpstr>
      <vt:lpstr>Segoe Print</vt:lpstr>
      <vt:lpstr>Times New Roman</vt:lpstr>
      <vt:lpstr>Calibri</vt:lpstr>
      <vt:lpstr>Microsoft YaHei</vt:lpstr>
      <vt:lpstr>Arial Unicode MS</vt:lpstr>
      <vt:lpstr>Calibri Light</vt:lpstr>
      <vt:lpstr>Copperplate Gothic Light</vt:lpstr>
      <vt:lpstr>Bahnschrift</vt:lpstr>
      <vt:lpstr>Bahnschrift SemiLight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Card</dc:title>
  <dc:creator>copyright@2019—dreamer; ABATARA1</dc:creator>
  <cp:lastModifiedBy>A. B.P.</cp:lastModifiedBy>
  <cp:revision>42</cp:revision>
  <dcterms:created xsi:type="dcterms:W3CDTF">2016-11-30T16:23:00Z</dcterms:created>
  <dcterms:modified xsi:type="dcterms:W3CDTF">2025-12-18T22:45:10Z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E99FAA5FF42E462C9FCB681E163F137E_13</vt:lpwstr>
  </property>
  <property fmtid="{D5CDD505-2E9C-101B-9397-08002B2CF9AE}" pid="3" name="KSOProductBuildVer">
    <vt:lpwstr>1033-12.2.0.23155</vt:lpwstr>
  </property>
</Properties>
</file>